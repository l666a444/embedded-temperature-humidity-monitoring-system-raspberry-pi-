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sldIdLst>
    <p:sldId id="256" r:id="rId2"/>
    <p:sldId id="273" r:id="rId3"/>
    <p:sldId id="280" r:id="rId4"/>
    <p:sldId id="274" r:id="rId5"/>
    <p:sldId id="265" r:id="rId6"/>
    <p:sldId id="281" r:id="rId7"/>
    <p:sldId id="267" r:id="rId8"/>
    <p:sldId id="283" r:id="rId9"/>
    <p:sldId id="266" r:id="rId10"/>
    <p:sldId id="269" r:id="rId11"/>
    <p:sldId id="276" r:id="rId12"/>
    <p:sldId id="263" r:id="rId13"/>
    <p:sldId id="277" r:id="rId14"/>
    <p:sldId id="260" r:id="rId15"/>
    <p:sldId id="264" r:id="rId16"/>
    <p:sldId id="26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zhang Wu" userId="2f81a7167fa8cb88" providerId="LiveId" clId="{F8DFE380-2F50-49A4-B704-7C8E5B4B5F5D}"/>
    <pc:docChg chg="custSel modSld">
      <pc:chgData name="Linzhang Wu" userId="2f81a7167fa8cb88" providerId="LiveId" clId="{F8DFE380-2F50-49A4-B704-7C8E5B4B5F5D}" dt="2026-04-29T13:28:19.537" v="53" actId="20577"/>
      <pc:docMkLst>
        <pc:docMk/>
      </pc:docMkLst>
      <pc:sldChg chg="modSp mod">
        <pc:chgData name="Linzhang Wu" userId="2f81a7167fa8cb88" providerId="LiveId" clId="{F8DFE380-2F50-49A4-B704-7C8E5B4B5F5D}" dt="2026-04-29T13:28:19.537" v="53" actId="20577"/>
        <pc:sldMkLst>
          <pc:docMk/>
          <pc:sldMk cId="1440959355" sldId="273"/>
        </pc:sldMkLst>
        <pc:spChg chg="mod">
          <ac:chgData name="Linzhang Wu" userId="2f81a7167fa8cb88" providerId="LiveId" clId="{F8DFE380-2F50-49A4-B704-7C8E5B4B5F5D}" dt="2026-04-29T13:28:19.537" v="53" actId="20577"/>
          <ac:spMkLst>
            <pc:docMk/>
            <pc:sldMk cId="1440959355" sldId="273"/>
            <ac:spMk id="2" creationId="{52ECA474-6488-43B1-9247-7A2DCBB4CF71}"/>
          </ac:spMkLst>
        </pc:spChg>
        <pc:graphicFrameChg chg="modGraphic">
          <ac:chgData name="Linzhang Wu" userId="2f81a7167fa8cb88" providerId="LiveId" clId="{F8DFE380-2F50-49A4-B704-7C8E5B4B5F5D}" dt="2026-04-29T13:27:38.312" v="3" actId="20577"/>
          <ac:graphicFrameMkLst>
            <pc:docMk/>
            <pc:sldMk cId="1440959355" sldId="273"/>
            <ac:graphicFrameMk id="6" creationId="{D63EDEF6-A5B1-465F-9B56-E74EF1445A7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5AC7E5-2781-42C2-912D-F816E96312A7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16E5D49-0F51-4367-A5CC-B4BFD768CE0F}">
      <dgm:prSet/>
      <dgm:spPr/>
      <dgm:t>
        <a:bodyPr/>
        <a:lstStyle/>
        <a:p>
          <a:pPr rtl="0"/>
          <a:r>
            <a:rPr lang="en-US" dirty="0">
              <a:latin typeface="Tw Cen MT" panose="020B0602020104020603"/>
            </a:rPr>
            <a:t>Miao </a:t>
          </a:r>
          <a:r>
            <a:rPr lang="en-US" dirty="0"/>
            <a:t>Yin</a:t>
          </a:r>
        </a:p>
      </dgm:t>
    </dgm:pt>
    <dgm:pt modelId="{8B1057D2-53F1-4D46-85A7-A76B6D40CF9C}" type="parTrans" cxnId="{D14DDCDE-BE6A-401E-A236-C7FD11677269}">
      <dgm:prSet/>
      <dgm:spPr/>
      <dgm:t>
        <a:bodyPr/>
        <a:lstStyle/>
        <a:p>
          <a:endParaRPr lang="en-US"/>
        </a:p>
      </dgm:t>
    </dgm:pt>
    <dgm:pt modelId="{50A9D7DD-7E09-49C2-BB4F-F292738D9D82}" type="sibTrans" cxnId="{D14DDCDE-BE6A-401E-A236-C7FD11677269}">
      <dgm:prSet/>
      <dgm:spPr/>
      <dgm:t>
        <a:bodyPr/>
        <a:lstStyle/>
        <a:p>
          <a:endParaRPr lang="en-US"/>
        </a:p>
      </dgm:t>
    </dgm:pt>
    <dgm:pt modelId="{A7D8A7EC-3D58-4FF5-A83E-505A83C5C09A}">
      <dgm:prSet/>
      <dgm:spPr/>
      <dgm:t>
        <a:bodyPr/>
        <a:lstStyle/>
        <a:p>
          <a:r>
            <a:rPr lang="en-US" dirty="0"/>
            <a:t>Jin Xu</a:t>
          </a:r>
        </a:p>
      </dgm:t>
    </dgm:pt>
    <dgm:pt modelId="{4CCBC885-B07F-456F-9699-6A770D55BEBF}" type="parTrans" cxnId="{5F277D74-4395-434F-94DE-AC2FF5AFF22B}">
      <dgm:prSet/>
      <dgm:spPr/>
      <dgm:t>
        <a:bodyPr/>
        <a:lstStyle/>
        <a:p>
          <a:endParaRPr lang="en-US"/>
        </a:p>
      </dgm:t>
    </dgm:pt>
    <dgm:pt modelId="{CFC145A9-2AF3-435C-A894-89E1323AE666}" type="sibTrans" cxnId="{5F277D74-4395-434F-94DE-AC2FF5AFF22B}">
      <dgm:prSet/>
      <dgm:spPr/>
      <dgm:t>
        <a:bodyPr/>
        <a:lstStyle/>
        <a:p>
          <a:endParaRPr lang="en-US"/>
        </a:p>
      </dgm:t>
    </dgm:pt>
    <dgm:pt modelId="{040614AF-9A9A-4AB5-8B49-7114690A4D04}">
      <dgm:prSet/>
      <dgm:spPr/>
      <dgm:t>
        <a:bodyPr/>
        <a:lstStyle/>
        <a:p>
          <a:pPr rtl="0"/>
          <a:r>
            <a:rPr lang="en-US" dirty="0" err="1">
              <a:latin typeface="Tw Cen MT" panose="020B0602020104020603"/>
            </a:rPr>
            <a:t>Donglin</a:t>
          </a:r>
          <a:r>
            <a:rPr lang="en-US" dirty="0"/>
            <a:t> Gao</a:t>
          </a:r>
        </a:p>
        <a:p>
          <a:pPr rtl="0"/>
          <a:endParaRPr lang="en-US" dirty="0"/>
        </a:p>
      </dgm:t>
    </dgm:pt>
    <dgm:pt modelId="{3D1FE78A-6129-4C4D-98A6-3FBD578673B2}" type="parTrans" cxnId="{AD1BA4DA-2523-4FC2-AB2F-0DB1F98C564B}">
      <dgm:prSet/>
      <dgm:spPr/>
      <dgm:t>
        <a:bodyPr/>
        <a:lstStyle/>
        <a:p>
          <a:endParaRPr lang="en-US"/>
        </a:p>
      </dgm:t>
    </dgm:pt>
    <dgm:pt modelId="{B8A07362-6EC3-416B-B116-7D8FCEF3E510}" type="sibTrans" cxnId="{AD1BA4DA-2523-4FC2-AB2F-0DB1F98C564B}">
      <dgm:prSet/>
      <dgm:spPr/>
      <dgm:t>
        <a:bodyPr/>
        <a:lstStyle/>
        <a:p>
          <a:endParaRPr lang="en-US"/>
        </a:p>
      </dgm:t>
    </dgm:pt>
    <dgm:pt modelId="{EFBF36FB-BF43-434C-B23E-A45CF16A1C4C}">
      <dgm:prSet/>
      <dgm:spPr/>
      <dgm:t>
        <a:bodyPr/>
        <a:lstStyle/>
        <a:p>
          <a:pPr rtl="0"/>
          <a:r>
            <a:rPr lang="en-US" dirty="0"/>
            <a:t>Linzhang Wu</a:t>
          </a:r>
        </a:p>
        <a:p>
          <a:pPr rtl="0"/>
          <a:r>
            <a:rPr lang="en-US" dirty="0"/>
            <a:t>Undergraduate student in ECE department</a:t>
          </a:r>
          <a:r>
            <a:rPr lang="en-US" dirty="0">
              <a:latin typeface="Tw Cen MT" panose="020B0602020104020603"/>
            </a:rPr>
            <a:t> </a:t>
          </a:r>
          <a:endParaRPr lang="en-US" dirty="0"/>
        </a:p>
        <a:p>
          <a:pPr rtl="0"/>
          <a:r>
            <a:rPr lang="en-US" dirty="0">
              <a:latin typeface="Tw Cen MT" panose="020B0602020104020603"/>
            </a:rPr>
            <a:t>lw568</a:t>
          </a:r>
          <a:r>
            <a:rPr lang="en-US" dirty="0"/>
            <a:t>@scarletmail.rutgers.edu</a:t>
          </a:r>
        </a:p>
      </dgm:t>
    </dgm:pt>
    <dgm:pt modelId="{4B2D1D6B-C086-4D59-8D9E-60D085731B99}" type="parTrans" cxnId="{8F5125C7-AA7E-4348-8894-DB42DCD9E880}">
      <dgm:prSet/>
      <dgm:spPr/>
      <dgm:t>
        <a:bodyPr/>
        <a:lstStyle/>
        <a:p>
          <a:endParaRPr lang="en-US"/>
        </a:p>
      </dgm:t>
    </dgm:pt>
    <dgm:pt modelId="{A658F2D7-EF05-4E42-8CEA-2532DE1C8591}" type="sibTrans" cxnId="{8F5125C7-AA7E-4348-8894-DB42DCD9E880}">
      <dgm:prSet/>
      <dgm:spPr/>
      <dgm:t>
        <a:bodyPr/>
        <a:lstStyle/>
        <a:p>
          <a:endParaRPr lang="en-US"/>
        </a:p>
      </dgm:t>
    </dgm:pt>
    <dgm:pt modelId="{6F47AE70-67DE-4E5D-A601-688DD7405438}" type="pres">
      <dgm:prSet presAssocID="{F65AC7E5-2781-42C2-912D-F816E96312A7}" presName="diagram" presStyleCnt="0">
        <dgm:presLayoutVars>
          <dgm:dir/>
          <dgm:resizeHandles val="exact"/>
        </dgm:presLayoutVars>
      </dgm:prSet>
      <dgm:spPr/>
    </dgm:pt>
    <dgm:pt modelId="{4CE8C35E-1D6C-4A35-BCFD-B46CF7D144B4}" type="pres">
      <dgm:prSet presAssocID="{316E5D49-0F51-4367-A5CC-B4BFD768CE0F}" presName="node" presStyleLbl="node1" presStyleIdx="0" presStyleCnt="4">
        <dgm:presLayoutVars>
          <dgm:bulletEnabled val="1"/>
        </dgm:presLayoutVars>
      </dgm:prSet>
      <dgm:spPr/>
    </dgm:pt>
    <dgm:pt modelId="{017B405B-D049-4ADF-9F75-FF4C74D6E250}" type="pres">
      <dgm:prSet presAssocID="{50A9D7DD-7E09-49C2-BB4F-F292738D9D82}" presName="sibTrans" presStyleCnt="0"/>
      <dgm:spPr/>
    </dgm:pt>
    <dgm:pt modelId="{0ED76A1F-7612-404F-B229-C927B1A58F10}" type="pres">
      <dgm:prSet presAssocID="{A7D8A7EC-3D58-4FF5-A83E-505A83C5C09A}" presName="node" presStyleLbl="node1" presStyleIdx="1" presStyleCnt="4">
        <dgm:presLayoutVars>
          <dgm:bulletEnabled val="1"/>
        </dgm:presLayoutVars>
      </dgm:prSet>
      <dgm:spPr/>
    </dgm:pt>
    <dgm:pt modelId="{6B33B76A-1AEE-45C2-B1ED-24AF89C63EC4}" type="pres">
      <dgm:prSet presAssocID="{CFC145A9-2AF3-435C-A894-89E1323AE666}" presName="sibTrans" presStyleCnt="0"/>
      <dgm:spPr/>
    </dgm:pt>
    <dgm:pt modelId="{F3196C74-23D3-4CD0-9007-805188DEA10A}" type="pres">
      <dgm:prSet presAssocID="{040614AF-9A9A-4AB5-8B49-7114690A4D04}" presName="node" presStyleLbl="node1" presStyleIdx="2" presStyleCnt="4">
        <dgm:presLayoutVars>
          <dgm:bulletEnabled val="1"/>
        </dgm:presLayoutVars>
      </dgm:prSet>
      <dgm:spPr/>
    </dgm:pt>
    <dgm:pt modelId="{FCAE0AB6-AB86-4EF7-8DCC-1E3FE552D32F}" type="pres">
      <dgm:prSet presAssocID="{B8A07362-6EC3-416B-B116-7D8FCEF3E510}" presName="sibTrans" presStyleCnt="0"/>
      <dgm:spPr/>
    </dgm:pt>
    <dgm:pt modelId="{B2FB2AFA-F9DA-4B3E-835E-1D977F5D47BF}" type="pres">
      <dgm:prSet presAssocID="{EFBF36FB-BF43-434C-B23E-A45CF16A1C4C}" presName="node" presStyleLbl="node1" presStyleIdx="3" presStyleCnt="4">
        <dgm:presLayoutVars>
          <dgm:bulletEnabled val="1"/>
        </dgm:presLayoutVars>
      </dgm:prSet>
      <dgm:spPr/>
    </dgm:pt>
  </dgm:ptLst>
  <dgm:cxnLst>
    <dgm:cxn modelId="{5F277D74-4395-434F-94DE-AC2FF5AFF22B}" srcId="{F65AC7E5-2781-42C2-912D-F816E96312A7}" destId="{A7D8A7EC-3D58-4FF5-A83E-505A83C5C09A}" srcOrd="1" destOrd="0" parTransId="{4CCBC885-B07F-456F-9699-6A770D55BEBF}" sibTransId="{CFC145A9-2AF3-435C-A894-89E1323AE666}"/>
    <dgm:cxn modelId="{BC4EAD56-ACA9-4489-9979-9F8264F529B8}" type="presOf" srcId="{A7D8A7EC-3D58-4FF5-A83E-505A83C5C09A}" destId="{0ED76A1F-7612-404F-B229-C927B1A58F10}" srcOrd="0" destOrd="0" presId="urn:microsoft.com/office/officeart/2005/8/layout/default"/>
    <dgm:cxn modelId="{EF4DC756-018A-41DB-A34F-D7DBE9B1CD0C}" type="presOf" srcId="{F65AC7E5-2781-42C2-912D-F816E96312A7}" destId="{6F47AE70-67DE-4E5D-A601-688DD7405438}" srcOrd="0" destOrd="0" presId="urn:microsoft.com/office/officeart/2005/8/layout/default"/>
    <dgm:cxn modelId="{8F5125C7-AA7E-4348-8894-DB42DCD9E880}" srcId="{F65AC7E5-2781-42C2-912D-F816E96312A7}" destId="{EFBF36FB-BF43-434C-B23E-A45CF16A1C4C}" srcOrd="3" destOrd="0" parTransId="{4B2D1D6B-C086-4D59-8D9E-60D085731B99}" sibTransId="{A658F2D7-EF05-4E42-8CEA-2532DE1C8591}"/>
    <dgm:cxn modelId="{53B178CB-0E87-4020-A596-012E6AC4935E}" type="presOf" srcId="{040614AF-9A9A-4AB5-8B49-7114690A4D04}" destId="{F3196C74-23D3-4CD0-9007-805188DEA10A}" srcOrd="0" destOrd="0" presId="urn:microsoft.com/office/officeart/2005/8/layout/default"/>
    <dgm:cxn modelId="{1AEB2FD2-6063-46E6-80E9-CFC1BE5F9065}" type="presOf" srcId="{316E5D49-0F51-4367-A5CC-B4BFD768CE0F}" destId="{4CE8C35E-1D6C-4A35-BCFD-B46CF7D144B4}" srcOrd="0" destOrd="0" presId="urn:microsoft.com/office/officeart/2005/8/layout/default"/>
    <dgm:cxn modelId="{FE6C6DD9-DBF4-4B57-A359-FE6D0BC1A5BF}" type="presOf" srcId="{EFBF36FB-BF43-434C-B23E-A45CF16A1C4C}" destId="{B2FB2AFA-F9DA-4B3E-835E-1D977F5D47BF}" srcOrd="0" destOrd="0" presId="urn:microsoft.com/office/officeart/2005/8/layout/default"/>
    <dgm:cxn modelId="{AD1BA4DA-2523-4FC2-AB2F-0DB1F98C564B}" srcId="{F65AC7E5-2781-42C2-912D-F816E96312A7}" destId="{040614AF-9A9A-4AB5-8B49-7114690A4D04}" srcOrd="2" destOrd="0" parTransId="{3D1FE78A-6129-4C4D-98A6-3FBD578673B2}" sibTransId="{B8A07362-6EC3-416B-B116-7D8FCEF3E510}"/>
    <dgm:cxn modelId="{D14DDCDE-BE6A-401E-A236-C7FD11677269}" srcId="{F65AC7E5-2781-42C2-912D-F816E96312A7}" destId="{316E5D49-0F51-4367-A5CC-B4BFD768CE0F}" srcOrd="0" destOrd="0" parTransId="{8B1057D2-53F1-4D46-85A7-A76B6D40CF9C}" sibTransId="{50A9D7DD-7E09-49C2-BB4F-F292738D9D82}"/>
    <dgm:cxn modelId="{8329D10C-E80C-48EC-9450-8A90BE485CFB}" type="presParOf" srcId="{6F47AE70-67DE-4E5D-A601-688DD7405438}" destId="{4CE8C35E-1D6C-4A35-BCFD-B46CF7D144B4}" srcOrd="0" destOrd="0" presId="urn:microsoft.com/office/officeart/2005/8/layout/default"/>
    <dgm:cxn modelId="{9CA26F4E-F6BC-4F3D-BA26-56E0B9AAC20C}" type="presParOf" srcId="{6F47AE70-67DE-4E5D-A601-688DD7405438}" destId="{017B405B-D049-4ADF-9F75-FF4C74D6E250}" srcOrd="1" destOrd="0" presId="urn:microsoft.com/office/officeart/2005/8/layout/default"/>
    <dgm:cxn modelId="{81DD40D4-4325-48C1-A3BF-8ADE8B5C451E}" type="presParOf" srcId="{6F47AE70-67DE-4E5D-A601-688DD7405438}" destId="{0ED76A1F-7612-404F-B229-C927B1A58F10}" srcOrd="2" destOrd="0" presId="urn:microsoft.com/office/officeart/2005/8/layout/default"/>
    <dgm:cxn modelId="{009229AA-364E-4F1E-9922-F9F4FC4D1BB6}" type="presParOf" srcId="{6F47AE70-67DE-4E5D-A601-688DD7405438}" destId="{6B33B76A-1AEE-45C2-B1ED-24AF89C63EC4}" srcOrd="3" destOrd="0" presId="urn:microsoft.com/office/officeart/2005/8/layout/default"/>
    <dgm:cxn modelId="{0EDA12DC-1899-4BBD-B89D-DFC189BBB7B4}" type="presParOf" srcId="{6F47AE70-67DE-4E5D-A601-688DD7405438}" destId="{F3196C74-23D3-4CD0-9007-805188DEA10A}" srcOrd="4" destOrd="0" presId="urn:microsoft.com/office/officeart/2005/8/layout/default"/>
    <dgm:cxn modelId="{E5F5FA76-F36F-45CA-92D6-C47E06118963}" type="presParOf" srcId="{6F47AE70-67DE-4E5D-A601-688DD7405438}" destId="{FCAE0AB6-AB86-4EF7-8DCC-1E3FE552D32F}" srcOrd="5" destOrd="0" presId="urn:microsoft.com/office/officeart/2005/8/layout/default"/>
    <dgm:cxn modelId="{E2D2E36C-180C-4034-A9A4-FB69FDC08391}" type="presParOf" srcId="{6F47AE70-67DE-4E5D-A601-688DD7405438}" destId="{B2FB2AFA-F9DA-4B3E-835E-1D977F5D47B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5AC7E5-2781-42C2-912D-F816E96312A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16E5D49-0F51-4367-A5CC-B4BFD768CE0F}">
      <dgm:prSet/>
      <dgm:spPr/>
      <dgm:t>
        <a:bodyPr/>
        <a:lstStyle/>
        <a:p>
          <a:pPr rtl="0"/>
          <a:r>
            <a:rPr lang="en-US">
              <a:latin typeface="Tw Cen MT" panose="020B0602020104020603"/>
            </a:rPr>
            <a:t>Miao Yin</a:t>
          </a:r>
          <a:r>
            <a:rPr lang="en-US"/>
            <a:t>:</a:t>
          </a:r>
          <a:r>
            <a:rPr lang="en-US" b="0" i="0" u="none" strike="noStrike" cap="none" baseline="0" noProof="0">
              <a:latin typeface="Tw Cen MT"/>
            </a:rPr>
            <a:t> Coding</a:t>
          </a:r>
          <a:r>
            <a:rPr lang="en-US" b="0" i="0" u="none" strike="noStrike" cap="none" baseline="0" noProof="0">
              <a:solidFill>
                <a:srgbClr val="010000"/>
              </a:solidFill>
              <a:latin typeface="Tw Cen MT"/>
            </a:rPr>
            <a:t> </a:t>
          </a:r>
          <a:r>
            <a:rPr lang="en-US" b="0" i="0" u="none" strike="noStrike" cap="none" baseline="0" noProof="0">
              <a:solidFill>
                <a:schemeClr val="bg1"/>
              </a:solidFill>
              <a:latin typeface="Tw Cen MT"/>
            </a:rPr>
            <a:t>for</a:t>
          </a:r>
          <a:r>
            <a:rPr lang="en-US" b="0" i="0" u="none" strike="noStrike" cap="none" baseline="0" noProof="0">
              <a:latin typeface="Tw Cen MT"/>
            </a:rPr>
            <a:t> </a:t>
          </a:r>
          <a:r>
            <a:rPr lang="en-US" b="0" i="0" u="none" strike="noStrike" cap="none" baseline="0" noProof="0" err="1">
              <a:latin typeface="Tw Cen MT"/>
            </a:rPr>
            <a:t>bluetooth</a:t>
          </a:r>
          <a:r>
            <a:rPr lang="en-US" b="0" i="0" u="none" strike="noStrike" cap="none" baseline="0" noProof="0">
              <a:latin typeface="Tw Cen MT"/>
            </a:rPr>
            <a:t> communication and information record in raspberry</a:t>
          </a:r>
          <a:r>
            <a:rPr lang="en-US" b="0" i="0" u="none" strike="noStrike" cap="none" baseline="0" noProof="0">
              <a:solidFill>
                <a:srgbClr val="010000"/>
              </a:solidFill>
              <a:latin typeface="Tw Cen MT"/>
            </a:rPr>
            <a:t> </a:t>
          </a:r>
          <a:r>
            <a:rPr lang="en-US" b="0" i="0" u="none" strike="noStrike" cap="none" baseline="0" noProof="0">
              <a:latin typeface="Tw Cen MT"/>
            </a:rPr>
            <a:t>pi</a:t>
          </a:r>
          <a:endParaRPr lang="en-US"/>
        </a:p>
      </dgm:t>
    </dgm:pt>
    <dgm:pt modelId="{8B1057D2-53F1-4D46-85A7-A76B6D40CF9C}" type="parTrans" cxnId="{D14DDCDE-BE6A-401E-A236-C7FD11677269}">
      <dgm:prSet/>
      <dgm:spPr/>
      <dgm:t>
        <a:bodyPr/>
        <a:lstStyle/>
        <a:p>
          <a:endParaRPr lang="en-US"/>
        </a:p>
      </dgm:t>
    </dgm:pt>
    <dgm:pt modelId="{50A9D7DD-7E09-49C2-BB4F-F292738D9D82}" type="sibTrans" cxnId="{D14DDCDE-BE6A-401E-A236-C7FD11677269}">
      <dgm:prSet/>
      <dgm:spPr/>
      <dgm:t>
        <a:bodyPr/>
        <a:lstStyle/>
        <a:p>
          <a:endParaRPr lang="en-US"/>
        </a:p>
      </dgm:t>
    </dgm:pt>
    <dgm:pt modelId="{A7D8A7EC-3D58-4FF5-A83E-505A83C5C09A}">
      <dgm:prSet/>
      <dgm:spPr/>
      <dgm:t>
        <a:bodyPr/>
        <a:lstStyle/>
        <a:p>
          <a:pPr rtl="0"/>
          <a:r>
            <a:rPr lang="en-US" err="1"/>
            <a:t>Jin</a:t>
          </a:r>
          <a:r>
            <a:rPr lang="en-US"/>
            <a:t> Xu:</a:t>
          </a:r>
          <a:r>
            <a:rPr lang="en-US">
              <a:latin typeface="Tw Cen MT" panose="020B0602020104020603"/>
            </a:rPr>
            <a:t> </a:t>
          </a:r>
          <a:r>
            <a:rPr lang="en-US"/>
            <a:t>coding for android and raspberry pi</a:t>
          </a:r>
        </a:p>
      </dgm:t>
    </dgm:pt>
    <dgm:pt modelId="{4CCBC885-B07F-456F-9699-6A770D55BEBF}" type="parTrans" cxnId="{5F277D74-4395-434F-94DE-AC2FF5AFF22B}">
      <dgm:prSet/>
      <dgm:spPr/>
      <dgm:t>
        <a:bodyPr/>
        <a:lstStyle/>
        <a:p>
          <a:endParaRPr lang="en-US"/>
        </a:p>
      </dgm:t>
    </dgm:pt>
    <dgm:pt modelId="{CFC145A9-2AF3-435C-A894-89E1323AE666}" type="sibTrans" cxnId="{5F277D74-4395-434F-94DE-AC2FF5AFF22B}">
      <dgm:prSet/>
      <dgm:spPr/>
      <dgm:t>
        <a:bodyPr/>
        <a:lstStyle/>
        <a:p>
          <a:endParaRPr lang="en-US"/>
        </a:p>
      </dgm:t>
    </dgm:pt>
    <dgm:pt modelId="{040614AF-9A9A-4AB5-8B49-7114690A4D04}">
      <dgm:prSet/>
      <dgm:spPr/>
      <dgm:t>
        <a:bodyPr/>
        <a:lstStyle/>
        <a:p>
          <a:pPr rtl="0"/>
          <a:r>
            <a:rPr lang="en-US" err="1">
              <a:latin typeface="Tw Cen MT" panose="020B0602020104020603"/>
            </a:rPr>
            <a:t>Donglin</a:t>
          </a:r>
          <a:r>
            <a:rPr lang="en-US"/>
            <a:t> Gao</a:t>
          </a:r>
          <a:r>
            <a:rPr lang="en-US">
              <a:latin typeface="Tw Cen MT" panose="020B0602020104020603"/>
            </a:rPr>
            <a:t>: System Testing, </a:t>
          </a:r>
          <a:r>
            <a:rPr lang="en-US" err="1"/>
            <a:t>Powerpoint</a:t>
          </a:r>
          <a:r>
            <a:rPr lang="en-US"/>
            <a:t> slides</a:t>
          </a:r>
        </a:p>
      </dgm:t>
    </dgm:pt>
    <dgm:pt modelId="{3D1FE78A-6129-4C4D-98A6-3FBD578673B2}" type="parTrans" cxnId="{AD1BA4DA-2523-4FC2-AB2F-0DB1F98C564B}">
      <dgm:prSet/>
      <dgm:spPr/>
      <dgm:t>
        <a:bodyPr/>
        <a:lstStyle/>
        <a:p>
          <a:endParaRPr lang="en-US"/>
        </a:p>
      </dgm:t>
    </dgm:pt>
    <dgm:pt modelId="{B8A07362-6EC3-416B-B116-7D8FCEF3E510}" type="sibTrans" cxnId="{AD1BA4DA-2523-4FC2-AB2F-0DB1F98C564B}">
      <dgm:prSet/>
      <dgm:spPr/>
      <dgm:t>
        <a:bodyPr/>
        <a:lstStyle/>
        <a:p>
          <a:endParaRPr lang="en-US"/>
        </a:p>
      </dgm:t>
    </dgm:pt>
    <dgm:pt modelId="{EFBF36FB-BF43-434C-B23E-A45CF16A1C4C}">
      <dgm:prSet/>
      <dgm:spPr/>
      <dgm:t>
        <a:bodyPr/>
        <a:lstStyle/>
        <a:p>
          <a:pPr rtl="0"/>
          <a:r>
            <a:rPr lang="en-US" err="1"/>
            <a:t>Linzhang</a:t>
          </a:r>
          <a:r>
            <a:rPr lang="en-US"/>
            <a:t> Wu:</a:t>
          </a:r>
          <a:r>
            <a:rPr lang="en-US">
              <a:latin typeface="Tw Cen MT" panose="020B0602020104020603"/>
            </a:rPr>
            <a:t> Sensor purchasing, Camera testing, </a:t>
          </a:r>
          <a:r>
            <a:rPr lang="en-US" err="1">
              <a:latin typeface="Tw Cen MT" panose="020B0602020104020603"/>
            </a:rPr>
            <a:t>Powerpoint</a:t>
          </a:r>
          <a:r>
            <a:rPr lang="en-US">
              <a:latin typeface="Tw Cen MT" panose="020B0602020104020603"/>
            </a:rPr>
            <a:t> slides</a:t>
          </a:r>
          <a:endParaRPr lang="en-US"/>
        </a:p>
      </dgm:t>
    </dgm:pt>
    <dgm:pt modelId="{4B2D1D6B-C086-4D59-8D9E-60D085731B99}" type="parTrans" cxnId="{8F5125C7-AA7E-4348-8894-DB42DCD9E880}">
      <dgm:prSet/>
      <dgm:spPr/>
      <dgm:t>
        <a:bodyPr/>
        <a:lstStyle/>
        <a:p>
          <a:endParaRPr lang="en-US"/>
        </a:p>
      </dgm:t>
    </dgm:pt>
    <dgm:pt modelId="{A658F2D7-EF05-4E42-8CEA-2532DE1C8591}" type="sibTrans" cxnId="{8F5125C7-AA7E-4348-8894-DB42DCD9E880}">
      <dgm:prSet/>
      <dgm:spPr/>
      <dgm:t>
        <a:bodyPr/>
        <a:lstStyle/>
        <a:p>
          <a:endParaRPr lang="en-US"/>
        </a:p>
      </dgm:t>
    </dgm:pt>
    <dgm:pt modelId="{3DC7FBBA-EBD3-421F-9C51-6D5B722DFB3F}" type="pres">
      <dgm:prSet presAssocID="{F65AC7E5-2781-42C2-912D-F816E96312A7}" presName="linear" presStyleCnt="0">
        <dgm:presLayoutVars>
          <dgm:animLvl val="lvl"/>
          <dgm:resizeHandles val="exact"/>
        </dgm:presLayoutVars>
      </dgm:prSet>
      <dgm:spPr/>
    </dgm:pt>
    <dgm:pt modelId="{FBBDA52F-229C-488D-9B5A-08910D63F965}" type="pres">
      <dgm:prSet presAssocID="{316E5D49-0F51-4367-A5CC-B4BFD768CE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BF8DC9-A2DE-4C0F-8C21-A8DA3CD9C690}" type="pres">
      <dgm:prSet presAssocID="{50A9D7DD-7E09-49C2-BB4F-F292738D9D82}" presName="spacer" presStyleCnt="0"/>
      <dgm:spPr/>
    </dgm:pt>
    <dgm:pt modelId="{924B222E-DB04-42C0-9E14-2F1A409C0DBA}" type="pres">
      <dgm:prSet presAssocID="{A7D8A7EC-3D58-4FF5-A83E-505A83C5C09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A24F8E0-4277-4464-9628-C3260B19A235}" type="pres">
      <dgm:prSet presAssocID="{CFC145A9-2AF3-435C-A894-89E1323AE666}" presName="spacer" presStyleCnt="0"/>
      <dgm:spPr/>
    </dgm:pt>
    <dgm:pt modelId="{7EE9F94C-BF2B-4E41-A3E2-77A93B7243C1}" type="pres">
      <dgm:prSet presAssocID="{040614AF-9A9A-4AB5-8B49-7114690A4D0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2FFA6EE-A812-4E2F-BA97-D00CE4157610}" type="pres">
      <dgm:prSet presAssocID="{B8A07362-6EC3-416B-B116-7D8FCEF3E510}" presName="spacer" presStyleCnt="0"/>
      <dgm:spPr/>
    </dgm:pt>
    <dgm:pt modelId="{F18B304A-C6CD-41B2-9B69-3B7803DC0300}" type="pres">
      <dgm:prSet presAssocID="{EFBF36FB-BF43-434C-B23E-A45CF16A1C4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A021D04-5394-448E-AD33-BA4566CD7028}" type="presOf" srcId="{A7D8A7EC-3D58-4FF5-A83E-505A83C5C09A}" destId="{924B222E-DB04-42C0-9E14-2F1A409C0DBA}" srcOrd="0" destOrd="0" presId="urn:microsoft.com/office/officeart/2005/8/layout/vList2"/>
    <dgm:cxn modelId="{AB3A9618-8339-4DD6-9B07-361477526329}" type="presOf" srcId="{316E5D49-0F51-4367-A5CC-B4BFD768CE0F}" destId="{FBBDA52F-229C-488D-9B5A-08910D63F965}" srcOrd="0" destOrd="0" presId="urn:microsoft.com/office/officeart/2005/8/layout/vList2"/>
    <dgm:cxn modelId="{A067AC1B-1D67-48EB-BE15-B58A4F1DBC5E}" type="presOf" srcId="{F65AC7E5-2781-42C2-912D-F816E96312A7}" destId="{3DC7FBBA-EBD3-421F-9C51-6D5B722DFB3F}" srcOrd="0" destOrd="0" presId="urn:microsoft.com/office/officeart/2005/8/layout/vList2"/>
    <dgm:cxn modelId="{5F277D74-4395-434F-94DE-AC2FF5AFF22B}" srcId="{F65AC7E5-2781-42C2-912D-F816E96312A7}" destId="{A7D8A7EC-3D58-4FF5-A83E-505A83C5C09A}" srcOrd="1" destOrd="0" parTransId="{4CCBC885-B07F-456F-9699-6A770D55BEBF}" sibTransId="{CFC145A9-2AF3-435C-A894-89E1323AE666}"/>
    <dgm:cxn modelId="{13505E9A-4646-4959-BA88-FD003B0DE9E6}" type="presOf" srcId="{EFBF36FB-BF43-434C-B23E-A45CF16A1C4C}" destId="{F18B304A-C6CD-41B2-9B69-3B7803DC0300}" srcOrd="0" destOrd="0" presId="urn:microsoft.com/office/officeart/2005/8/layout/vList2"/>
    <dgm:cxn modelId="{8F5125C7-AA7E-4348-8894-DB42DCD9E880}" srcId="{F65AC7E5-2781-42C2-912D-F816E96312A7}" destId="{EFBF36FB-BF43-434C-B23E-A45CF16A1C4C}" srcOrd="3" destOrd="0" parTransId="{4B2D1D6B-C086-4D59-8D9E-60D085731B99}" sibTransId="{A658F2D7-EF05-4E42-8CEA-2532DE1C8591}"/>
    <dgm:cxn modelId="{AD1BA4DA-2523-4FC2-AB2F-0DB1F98C564B}" srcId="{F65AC7E5-2781-42C2-912D-F816E96312A7}" destId="{040614AF-9A9A-4AB5-8B49-7114690A4D04}" srcOrd="2" destOrd="0" parTransId="{3D1FE78A-6129-4C4D-98A6-3FBD578673B2}" sibTransId="{B8A07362-6EC3-416B-B116-7D8FCEF3E510}"/>
    <dgm:cxn modelId="{D14DDCDE-BE6A-401E-A236-C7FD11677269}" srcId="{F65AC7E5-2781-42C2-912D-F816E96312A7}" destId="{316E5D49-0F51-4367-A5CC-B4BFD768CE0F}" srcOrd="0" destOrd="0" parTransId="{8B1057D2-53F1-4D46-85A7-A76B6D40CF9C}" sibTransId="{50A9D7DD-7E09-49C2-BB4F-F292738D9D82}"/>
    <dgm:cxn modelId="{042CC2E6-E335-4400-AC86-93360EFF0C9F}" type="presOf" srcId="{040614AF-9A9A-4AB5-8B49-7114690A4D04}" destId="{7EE9F94C-BF2B-4E41-A3E2-77A93B7243C1}" srcOrd="0" destOrd="0" presId="urn:microsoft.com/office/officeart/2005/8/layout/vList2"/>
    <dgm:cxn modelId="{0DAF197C-FDFB-4FAD-AEA6-5F1A8E867750}" type="presParOf" srcId="{3DC7FBBA-EBD3-421F-9C51-6D5B722DFB3F}" destId="{FBBDA52F-229C-488D-9B5A-08910D63F965}" srcOrd="0" destOrd="0" presId="urn:microsoft.com/office/officeart/2005/8/layout/vList2"/>
    <dgm:cxn modelId="{27375619-682F-4B18-915B-78F4EBD64812}" type="presParOf" srcId="{3DC7FBBA-EBD3-421F-9C51-6D5B722DFB3F}" destId="{8DBF8DC9-A2DE-4C0F-8C21-A8DA3CD9C690}" srcOrd="1" destOrd="0" presId="urn:microsoft.com/office/officeart/2005/8/layout/vList2"/>
    <dgm:cxn modelId="{165E1BA3-9FC9-4351-9326-0B9C186C12D7}" type="presParOf" srcId="{3DC7FBBA-EBD3-421F-9C51-6D5B722DFB3F}" destId="{924B222E-DB04-42C0-9E14-2F1A409C0DBA}" srcOrd="2" destOrd="0" presId="urn:microsoft.com/office/officeart/2005/8/layout/vList2"/>
    <dgm:cxn modelId="{18C75F3F-A21C-4FDD-A346-30218DF9A937}" type="presParOf" srcId="{3DC7FBBA-EBD3-421F-9C51-6D5B722DFB3F}" destId="{5A24F8E0-4277-4464-9628-C3260B19A235}" srcOrd="3" destOrd="0" presId="urn:microsoft.com/office/officeart/2005/8/layout/vList2"/>
    <dgm:cxn modelId="{DC117281-9E5E-4967-A0D5-92AEEDB7BD7F}" type="presParOf" srcId="{3DC7FBBA-EBD3-421F-9C51-6D5B722DFB3F}" destId="{7EE9F94C-BF2B-4E41-A3E2-77A93B7243C1}" srcOrd="4" destOrd="0" presId="urn:microsoft.com/office/officeart/2005/8/layout/vList2"/>
    <dgm:cxn modelId="{1406BDB3-35E2-414C-9B6B-743CA753F3D7}" type="presParOf" srcId="{3DC7FBBA-EBD3-421F-9C51-6D5B722DFB3F}" destId="{12FFA6EE-A812-4E2F-BA97-D00CE4157610}" srcOrd="5" destOrd="0" presId="urn:microsoft.com/office/officeart/2005/8/layout/vList2"/>
    <dgm:cxn modelId="{FFEA0EF9-C936-4123-BF7C-E68894B37DE1}" type="presParOf" srcId="{3DC7FBBA-EBD3-421F-9C51-6D5B722DFB3F}" destId="{F18B304A-C6CD-41B2-9B69-3B7803DC030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8C35E-1D6C-4A35-BCFD-B46CF7D144B4}">
      <dsp:nvSpPr>
        <dsp:cNvPr id="0" name=""/>
        <dsp:cNvSpPr/>
      </dsp:nvSpPr>
      <dsp:spPr>
        <a:xfrm>
          <a:off x="768" y="52732"/>
          <a:ext cx="2997504" cy="179850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w Cen MT" panose="020B0602020104020603"/>
            </a:rPr>
            <a:t>Miao </a:t>
          </a:r>
          <a:r>
            <a:rPr lang="en-US" sz="1800" kern="1200" dirty="0"/>
            <a:t>Yin</a:t>
          </a:r>
        </a:p>
      </dsp:txBody>
      <dsp:txXfrm>
        <a:off x="768" y="52732"/>
        <a:ext cx="2997504" cy="1798502"/>
      </dsp:txXfrm>
    </dsp:sp>
    <dsp:sp modelId="{0ED76A1F-7612-404F-B229-C927B1A58F10}">
      <dsp:nvSpPr>
        <dsp:cNvPr id="0" name=""/>
        <dsp:cNvSpPr/>
      </dsp:nvSpPr>
      <dsp:spPr>
        <a:xfrm>
          <a:off x="3298023" y="52732"/>
          <a:ext cx="2997504" cy="1798502"/>
        </a:xfrm>
        <a:prstGeom prst="rect">
          <a:avLst/>
        </a:prstGeom>
        <a:solidFill>
          <a:schemeClr val="accent5">
            <a:hueOff val="-1102852"/>
            <a:satOff val="-5923"/>
            <a:lumOff val="202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Jin Xu</a:t>
          </a:r>
        </a:p>
      </dsp:txBody>
      <dsp:txXfrm>
        <a:off x="3298023" y="52732"/>
        <a:ext cx="2997504" cy="1798502"/>
      </dsp:txXfrm>
    </dsp:sp>
    <dsp:sp modelId="{F3196C74-23D3-4CD0-9007-805188DEA10A}">
      <dsp:nvSpPr>
        <dsp:cNvPr id="0" name=""/>
        <dsp:cNvSpPr/>
      </dsp:nvSpPr>
      <dsp:spPr>
        <a:xfrm>
          <a:off x="768" y="2150986"/>
          <a:ext cx="2997504" cy="1798502"/>
        </a:xfrm>
        <a:prstGeom prst="rect">
          <a:avLst/>
        </a:prstGeom>
        <a:solidFill>
          <a:schemeClr val="accent5">
            <a:hueOff val="-2205704"/>
            <a:satOff val="-11847"/>
            <a:lumOff val="405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Tw Cen MT" panose="020B0602020104020603"/>
            </a:rPr>
            <a:t>Donglin</a:t>
          </a:r>
          <a:r>
            <a:rPr lang="en-US" sz="1800" kern="1200" dirty="0"/>
            <a:t> Gao</a:t>
          </a:r>
        </a:p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768" y="2150986"/>
        <a:ext cx="2997504" cy="1798502"/>
      </dsp:txXfrm>
    </dsp:sp>
    <dsp:sp modelId="{B2FB2AFA-F9DA-4B3E-835E-1D977F5D47BF}">
      <dsp:nvSpPr>
        <dsp:cNvPr id="0" name=""/>
        <dsp:cNvSpPr/>
      </dsp:nvSpPr>
      <dsp:spPr>
        <a:xfrm>
          <a:off x="3298023" y="2150986"/>
          <a:ext cx="2997504" cy="1798502"/>
        </a:xfrm>
        <a:prstGeom prst="rect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Linzhang Wu</a:t>
          </a:r>
        </a:p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Undergraduate student in ECE department</a:t>
          </a:r>
          <a:r>
            <a:rPr lang="en-US" sz="1800" kern="1200" dirty="0">
              <a:latin typeface="Tw Cen MT" panose="020B0602020104020603"/>
            </a:rPr>
            <a:t> </a:t>
          </a:r>
          <a:endParaRPr lang="en-US" sz="1800" kern="1200" dirty="0"/>
        </a:p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w Cen MT" panose="020B0602020104020603"/>
            </a:rPr>
            <a:t>lw568</a:t>
          </a:r>
          <a:r>
            <a:rPr lang="en-US" sz="1800" kern="1200" dirty="0"/>
            <a:t>@scarletmail.rutgers.edu</a:t>
          </a:r>
        </a:p>
      </dsp:txBody>
      <dsp:txXfrm>
        <a:off x="3298023" y="2150986"/>
        <a:ext cx="2997504" cy="17985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BDA52F-229C-488D-9B5A-08910D63F965}">
      <dsp:nvSpPr>
        <dsp:cNvPr id="0" name=""/>
        <dsp:cNvSpPr/>
      </dsp:nvSpPr>
      <dsp:spPr>
        <a:xfrm>
          <a:off x="0" y="86799"/>
          <a:ext cx="6281920" cy="9067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w Cen MT" panose="020B0602020104020603"/>
            </a:rPr>
            <a:t>Miao Yin</a:t>
          </a:r>
          <a:r>
            <a:rPr lang="en-US" sz="2500" kern="1200"/>
            <a:t>:</a:t>
          </a:r>
          <a:r>
            <a:rPr lang="en-US" sz="2500" b="0" i="0" u="none" strike="noStrike" kern="1200" cap="none" baseline="0" noProof="0">
              <a:latin typeface="Tw Cen MT"/>
            </a:rPr>
            <a:t> Coding</a:t>
          </a:r>
          <a:r>
            <a:rPr lang="en-US" sz="2500" b="0" i="0" u="none" strike="noStrike" kern="1200" cap="none" baseline="0" noProof="0">
              <a:solidFill>
                <a:srgbClr val="010000"/>
              </a:solidFill>
              <a:latin typeface="Tw Cen MT"/>
            </a:rPr>
            <a:t> </a:t>
          </a:r>
          <a:r>
            <a:rPr lang="en-US" sz="2500" b="0" i="0" u="none" strike="noStrike" kern="1200" cap="none" baseline="0" noProof="0">
              <a:solidFill>
                <a:schemeClr val="bg1"/>
              </a:solidFill>
              <a:latin typeface="Tw Cen MT"/>
            </a:rPr>
            <a:t>for</a:t>
          </a:r>
          <a:r>
            <a:rPr lang="en-US" sz="2500" b="0" i="0" u="none" strike="noStrike" kern="1200" cap="none" baseline="0" noProof="0">
              <a:latin typeface="Tw Cen MT"/>
            </a:rPr>
            <a:t> </a:t>
          </a:r>
          <a:r>
            <a:rPr lang="en-US" sz="2500" b="0" i="0" u="none" strike="noStrike" kern="1200" cap="none" baseline="0" noProof="0" err="1">
              <a:latin typeface="Tw Cen MT"/>
            </a:rPr>
            <a:t>bluetooth</a:t>
          </a:r>
          <a:r>
            <a:rPr lang="en-US" sz="2500" b="0" i="0" u="none" strike="noStrike" kern="1200" cap="none" baseline="0" noProof="0">
              <a:latin typeface="Tw Cen MT"/>
            </a:rPr>
            <a:t> communication and information record in raspberry</a:t>
          </a:r>
          <a:r>
            <a:rPr lang="en-US" sz="2500" b="0" i="0" u="none" strike="noStrike" kern="1200" cap="none" baseline="0" noProof="0">
              <a:solidFill>
                <a:srgbClr val="010000"/>
              </a:solidFill>
              <a:latin typeface="Tw Cen MT"/>
            </a:rPr>
            <a:t> </a:t>
          </a:r>
          <a:r>
            <a:rPr lang="en-US" sz="2500" b="0" i="0" u="none" strike="noStrike" kern="1200" cap="none" baseline="0" noProof="0">
              <a:latin typeface="Tw Cen MT"/>
            </a:rPr>
            <a:t>pi</a:t>
          </a:r>
          <a:endParaRPr lang="en-US" sz="2500" kern="1200"/>
        </a:p>
      </dsp:txBody>
      <dsp:txXfrm>
        <a:off x="44264" y="131063"/>
        <a:ext cx="6193392" cy="818222"/>
      </dsp:txXfrm>
    </dsp:sp>
    <dsp:sp modelId="{924B222E-DB04-42C0-9E14-2F1A409C0DBA}">
      <dsp:nvSpPr>
        <dsp:cNvPr id="0" name=""/>
        <dsp:cNvSpPr/>
      </dsp:nvSpPr>
      <dsp:spPr>
        <a:xfrm>
          <a:off x="0" y="1065549"/>
          <a:ext cx="6281920" cy="906750"/>
        </a:xfrm>
        <a:prstGeom prst="roundRect">
          <a:avLst/>
        </a:prstGeom>
        <a:solidFill>
          <a:schemeClr val="accent5">
            <a:hueOff val="-1102852"/>
            <a:satOff val="-5923"/>
            <a:lumOff val="202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err="1"/>
            <a:t>Jin</a:t>
          </a:r>
          <a:r>
            <a:rPr lang="en-US" sz="2500" kern="1200"/>
            <a:t> Xu:</a:t>
          </a:r>
          <a:r>
            <a:rPr lang="en-US" sz="2500" kern="1200">
              <a:latin typeface="Tw Cen MT" panose="020B0602020104020603"/>
            </a:rPr>
            <a:t> </a:t>
          </a:r>
          <a:r>
            <a:rPr lang="en-US" sz="2500" kern="1200"/>
            <a:t>coding for android and raspberry pi</a:t>
          </a:r>
        </a:p>
      </dsp:txBody>
      <dsp:txXfrm>
        <a:off x="44264" y="1109813"/>
        <a:ext cx="6193392" cy="818222"/>
      </dsp:txXfrm>
    </dsp:sp>
    <dsp:sp modelId="{7EE9F94C-BF2B-4E41-A3E2-77A93B7243C1}">
      <dsp:nvSpPr>
        <dsp:cNvPr id="0" name=""/>
        <dsp:cNvSpPr/>
      </dsp:nvSpPr>
      <dsp:spPr>
        <a:xfrm>
          <a:off x="0" y="2044299"/>
          <a:ext cx="6281920" cy="906750"/>
        </a:xfrm>
        <a:prstGeom prst="roundRect">
          <a:avLst/>
        </a:prstGeom>
        <a:solidFill>
          <a:schemeClr val="accent5">
            <a:hueOff val="-2205704"/>
            <a:satOff val="-11847"/>
            <a:lumOff val="405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err="1">
              <a:latin typeface="Tw Cen MT" panose="020B0602020104020603"/>
            </a:rPr>
            <a:t>Donglin</a:t>
          </a:r>
          <a:r>
            <a:rPr lang="en-US" sz="2500" kern="1200"/>
            <a:t> Gao</a:t>
          </a:r>
          <a:r>
            <a:rPr lang="en-US" sz="2500" kern="1200">
              <a:latin typeface="Tw Cen MT" panose="020B0602020104020603"/>
            </a:rPr>
            <a:t>: System Testing, </a:t>
          </a:r>
          <a:r>
            <a:rPr lang="en-US" sz="2500" kern="1200" err="1"/>
            <a:t>Powerpoint</a:t>
          </a:r>
          <a:r>
            <a:rPr lang="en-US" sz="2500" kern="1200"/>
            <a:t> slides</a:t>
          </a:r>
        </a:p>
      </dsp:txBody>
      <dsp:txXfrm>
        <a:off x="44264" y="2088563"/>
        <a:ext cx="6193392" cy="818222"/>
      </dsp:txXfrm>
    </dsp:sp>
    <dsp:sp modelId="{F18B304A-C6CD-41B2-9B69-3B7803DC0300}">
      <dsp:nvSpPr>
        <dsp:cNvPr id="0" name=""/>
        <dsp:cNvSpPr/>
      </dsp:nvSpPr>
      <dsp:spPr>
        <a:xfrm>
          <a:off x="0" y="3023049"/>
          <a:ext cx="6281920" cy="906750"/>
        </a:xfrm>
        <a:prstGeom prst="roundRect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err="1"/>
            <a:t>Linzhang</a:t>
          </a:r>
          <a:r>
            <a:rPr lang="en-US" sz="2500" kern="1200"/>
            <a:t> Wu:</a:t>
          </a:r>
          <a:r>
            <a:rPr lang="en-US" sz="2500" kern="1200">
              <a:latin typeface="Tw Cen MT" panose="020B0602020104020603"/>
            </a:rPr>
            <a:t> Sensor purchasing, Camera testing, </a:t>
          </a:r>
          <a:r>
            <a:rPr lang="en-US" sz="2500" kern="1200" err="1">
              <a:latin typeface="Tw Cen MT" panose="020B0602020104020603"/>
            </a:rPr>
            <a:t>Powerpoint</a:t>
          </a:r>
          <a:r>
            <a:rPr lang="en-US" sz="2500" kern="1200">
              <a:latin typeface="Tw Cen MT" panose="020B0602020104020603"/>
            </a:rPr>
            <a:t> slides</a:t>
          </a:r>
          <a:endParaRPr lang="en-US" sz="2500" kern="1200"/>
        </a:p>
      </dsp:txBody>
      <dsp:txXfrm>
        <a:off x="44264" y="3067313"/>
        <a:ext cx="6193392" cy="818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6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5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50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5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6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9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0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3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9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98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9112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94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34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90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32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09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4D037-57BD-4EEB-81FC-D7FCFA728CD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A52FE-80B8-4F42-9365-9B50B5728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325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  <p:sldLayoutId id="214748380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B7D4B16D-600A-41A1-8B1B-3727C56C0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E7C35E0-BD19-4AFC-81BF-7A7507E9C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60000"/>
            </a:schemeClr>
          </a:solidFill>
          <a:effectLst/>
        </p:grpSpPr>
        <p:sp>
          <p:nvSpPr>
            <p:cNvPr id="85" name="Rectangle 5">
              <a:extLst>
                <a:ext uri="{FF2B5EF4-FFF2-40B4-BE49-F238E27FC236}">
                  <a16:creationId xmlns:a16="http://schemas.microsoft.com/office/drawing/2014/main" id="{1E08D20A-3975-4596-85C6-D46799586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630A9349-BFE4-4720-A229-98DCD3B6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7">
              <a:extLst>
                <a:ext uri="{FF2B5EF4-FFF2-40B4-BE49-F238E27FC236}">
                  <a16:creationId xmlns:a16="http://schemas.microsoft.com/office/drawing/2014/main" id="{28487744-BBC9-4D40-85B3-0D45003C3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Rectangle 8">
              <a:extLst>
                <a:ext uri="{FF2B5EF4-FFF2-40B4-BE49-F238E27FC236}">
                  <a16:creationId xmlns:a16="http://schemas.microsoft.com/office/drawing/2014/main" id="{FAD6EF4D-97BD-46B4-9B5B-CD70971D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9">
              <a:extLst>
                <a:ext uri="{FF2B5EF4-FFF2-40B4-BE49-F238E27FC236}">
                  <a16:creationId xmlns:a16="http://schemas.microsoft.com/office/drawing/2014/main" id="{210DCC42-11D2-4162-B47A-869B3F669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0">
              <a:extLst>
                <a:ext uri="{FF2B5EF4-FFF2-40B4-BE49-F238E27FC236}">
                  <a16:creationId xmlns:a16="http://schemas.microsoft.com/office/drawing/2014/main" id="{DE4880D6-6ECE-4F1B-B474-FE3940D04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1">
              <a:extLst>
                <a:ext uri="{FF2B5EF4-FFF2-40B4-BE49-F238E27FC236}">
                  <a16:creationId xmlns:a16="http://schemas.microsoft.com/office/drawing/2014/main" id="{A1A39307-F675-49D2-9E45-28DA2AB5C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2">
              <a:extLst>
                <a:ext uri="{FF2B5EF4-FFF2-40B4-BE49-F238E27FC236}">
                  <a16:creationId xmlns:a16="http://schemas.microsoft.com/office/drawing/2014/main" id="{AC5E23C5-C5D6-4BC3-9531-C0B2D7D29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4D3FC0A7-9672-4B19-8D54-71C3B39F7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4">
              <a:extLst>
                <a:ext uri="{FF2B5EF4-FFF2-40B4-BE49-F238E27FC236}">
                  <a16:creationId xmlns:a16="http://schemas.microsoft.com/office/drawing/2014/main" id="{9911D04C-3FFB-4D1E-8F59-5C02692E3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5">
              <a:extLst>
                <a:ext uri="{FF2B5EF4-FFF2-40B4-BE49-F238E27FC236}">
                  <a16:creationId xmlns:a16="http://schemas.microsoft.com/office/drawing/2014/main" id="{A0178C8F-EF32-4F3D-B022-60A7DE136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EEB2DD25-DE0D-48CE-8218-E4EF12273A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7">
              <a:extLst>
                <a:ext uri="{FF2B5EF4-FFF2-40B4-BE49-F238E27FC236}">
                  <a16:creationId xmlns:a16="http://schemas.microsoft.com/office/drawing/2014/main" id="{13C92E55-66CB-48F7-BF28-5D8ED146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8">
              <a:extLst>
                <a:ext uri="{FF2B5EF4-FFF2-40B4-BE49-F238E27FC236}">
                  <a16:creationId xmlns:a16="http://schemas.microsoft.com/office/drawing/2014/main" id="{CB0B6C7B-4820-48AB-92AF-896559F00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9">
              <a:extLst>
                <a:ext uri="{FF2B5EF4-FFF2-40B4-BE49-F238E27FC236}">
                  <a16:creationId xmlns:a16="http://schemas.microsoft.com/office/drawing/2014/main" id="{2018EECD-4518-458F-989E-6FCAE5AE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0">
              <a:extLst>
                <a:ext uri="{FF2B5EF4-FFF2-40B4-BE49-F238E27FC236}">
                  <a16:creationId xmlns:a16="http://schemas.microsoft.com/office/drawing/2014/main" id="{1FB0915F-3C52-468A-87E7-F3EE381D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1">
              <a:extLst>
                <a:ext uri="{FF2B5EF4-FFF2-40B4-BE49-F238E27FC236}">
                  <a16:creationId xmlns:a16="http://schemas.microsoft.com/office/drawing/2014/main" id="{7B184771-5A8E-4ED5-9179-24B19F26C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2">
              <a:extLst>
                <a:ext uri="{FF2B5EF4-FFF2-40B4-BE49-F238E27FC236}">
                  <a16:creationId xmlns:a16="http://schemas.microsoft.com/office/drawing/2014/main" id="{BC5162D1-D64C-4FBA-BE86-11B27A743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3">
              <a:extLst>
                <a:ext uri="{FF2B5EF4-FFF2-40B4-BE49-F238E27FC236}">
                  <a16:creationId xmlns:a16="http://schemas.microsoft.com/office/drawing/2014/main" id="{9EFF345C-6A58-4123-B2D1-2ED9E3691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24">
              <a:extLst>
                <a:ext uri="{FF2B5EF4-FFF2-40B4-BE49-F238E27FC236}">
                  <a16:creationId xmlns:a16="http://schemas.microsoft.com/office/drawing/2014/main" id="{03CE89F7-AE1C-4370-920E-EE04C4124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5">
              <a:extLst>
                <a:ext uri="{FF2B5EF4-FFF2-40B4-BE49-F238E27FC236}">
                  <a16:creationId xmlns:a16="http://schemas.microsoft.com/office/drawing/2014/main" id="{D6E298F6-F99D-49EF-B614-24D2179C2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6">
              <a:extLst>
                <a:ext uri="{FF2B5EF4-FFF2-40B4-BE49-F238E27FC236}">
                  <a16:creationId xmlns:a16="http://schemas.microsoft.com/office/drawing/2014/main" id="{2424FD35-451D-468C-9EB2-8DA350C12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7">
              <a:extLst>
                <a:ext uri="{FF2B5EF4-FFF2-40B4-BE49-F238E27FC236}">
                  <a16:creationId xmlns:a16="http://schemas.microsoft.com/office/drawing/2014/main" id="{45BC0C6F-B91F-42CC-9046-522FE8223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8">
              <a:extLst>
                <a:ext uri="{FF2B5EF4-FFF2-40B4-BE49-F238E27FC236}">
                  <a16:creationId xmlns:a16="http://schemas.microsoft.com/office/drawing/2014/main" id="{F88AFBEE-A8B5-4B18-B834-5269F6C13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29">
              <a:extLst>
                <a:ext uri="{FF2B5EF4-FFF2-40B4-BE49-F238E27FC236}">
                  <a16:creationId xmlns:a16="http://schemas.microsoft.com/office/drawing/2014/main" id="{64B0F493-EC69-4C85-87D4-287628231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30">
              <a:extLst>
                <a:ext uri="{FF2B5EF4-FFF2-40B4-BE49-F238E27FC236}">
                  <a16:creationId xmlns:a16="http://schemas.microsoft.com/office/drawing/2014/main" id="{09920E7F-979C-40F6-8FB1-791325A4A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31">
              <a:extLst>
                <a:ext uri="{FF2B5EF4-FFF2-40B4-BE49-F238E27FC236}">
                  <a16:creationId xmlns:a16="http://schemas.microsoft.com/office/drawing/2014/main" id="{1387BCC3-D7BF-443E-B18C-87B696E64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32">
              <a:extLst>
                <a:ext uri="{FF2B5EF4-FFF2-40B4-BE49-F238E27FC236}">
                  <a16:creationId xmlns:a16="http://schemas.microsoft.com/office/drawing/2014/main" id="{F1C0670D-9FA2-48D7-AFDB-4438ECC3E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Rectangle 33">
              <a:extLst>
                <a:ext uri="{FF2B5EF4-FFF2-40B4-BE49-F238E27FC236}">
                  <a16:creationId xmlns:a16="http://schemas.microsoft.com/office/drawing/2014/main" id="{34088C0C-CAD1-4E66-A162-1D7020365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34">
              <a:extLst>
                <a:ext uri="{FF2B5EF4-FFF2-40B4-BE49-F238E27FC236}">
                  <a16:creationId xmlns:a16="http://schemas.microsoft.com/office/drawing/2014/main" id="{B8C224A6-72B4-4763-B708-65A321D0D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35">
              <a:extLst>
                <a:ext uri="{FF2B5EF4-FFF2-40B4-BE49-F238E27FC236}">
                  <a16:creationId xmlns:a16="http://schemas.microsoft.com/office/drawing/2014/main" id="{2EE3A964-523C-470B-8B10-09053452C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36">
              <a:extLst>
                <a:ext uri="{FF2B5EF4-FFF2-40B4-BE49-F238E27FC236}">
                  <a16:creationId xmlns:a16="http://schemas.microsoft.com/office/drawing/2014/main" id="{1B87487E-C0EA-4E2A-8FC0-3D4C4F017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37">
              <a:extLst>
                <a:ext uri="{FF2B5EF4-FFF2-40B4-BE49-F238E27FC236}">
                  <a16:creationId xmlns:a16="http://schemas.microsoft.com/office/drawing/2014/main" id="{D8B57E7E-D885-4A0B-BBA0-E3BC3A68C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38">
              <a:extLst>
                <a:ext uri="{FF2B5EF4-FFF2-40B4-BE49-F238E27FC236}">
                  <a16:creationId xmlns:a16="http://schemas.microsoft.com/office/drawing/2014/main" id="{6FB84573-B84B-4571-A6E5-91CD308E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39">
              <a:extLst>
                <a:ext uri="{FF2B5EF4-FFF2-40B4-BE49-F238E27FC236}">
                  <a16:creationId xmlns:a16="http://schemas.microsoft.com/office/drawing/2014/main" id="{7EE5EE00-E139-4AB9-ACFC-5E39CFA95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40">
              <a:extLst>
                <a:ext uri="{FF2B5EF4-FFF2-40B4-BE49-F238E27FC236}">
                  <a16:creationId xmlns:a16="http://schemas.microsoft.com/office/drawing/2014/main" id="{5A38A6AA-6753-4EFE-94BB-96DF73975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41">
              <a:extLst>
                <a:ext uri="{FF2B5EF4-FFF2-40B4-BE49-F238E27FC236}">
                  <a16:creationId xmlns:a16="http://schemas.microsoft.com/office/drawing/2014/main" id="{506AB599-570B-4547-97F4-F2C672301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42">
              <a:extLst>
                <a:ext uri="{FF2B5EF4-FFF2-40B4-BE49-F238E27FC236}">
                  <a16:creationId xmlns:a16="http://schemas.microsoft.com/office/drawing/2014/main" id="{9AFDEA1E-DBAB-4507-8D36-786F19A85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43">
              <a:extLst>
                <a:ext uri="{FF2B5EF4-FFF2-40B4-BE49-F238E27FC236}">
                  <a16:creationId xmlns:a16="http://schemas.microsoft.com/office/drawing/2014/main" id="{C824D6F7-0BDF-4C8C-869D-BDDEB0764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44">
              <a:extLst>
                <a:ext uri="{FF2B5EF4-FFF2-40B4-BE49-F238E27FC236}">
                  <a16:creationId xmlns:a16="http://schemas.microsoft.com/office/drawing/2014/main" id="{6953C491-AE0F-4D2B-9474-18D5E8B5D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Rectangle 45">
              <a:extLst>
                <a:ext uri="{FF2B5EF4-FFF2-40B4-BE49-F238E27FC236}">
                  <a16:creationId xmlns:a16="http://schemas.microsoft.com/office/drawing/2014/main" id="{5B956350-9BDD-4090-B2B6-12C13D1CE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46">
              <a:extLst>
                <a:ext uri="{FF2B5EF4-FFF2-40B4-BE49-F238E27FC236}">
                  <a16:creationId xmlns:a16="http://schemas.microsoft.com/office/drawing/2014/main" id="{ECE31E80-E354-44C3-81E0-4E3E41DDF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47">
              <a:extLst>
                <a:ext uri="{FF2B5EF4-FFF2-40B4-BE49-F238E27FC236}">
                  <a16:creationId xmlns:a16="http://schemas.microsoft.com/office/drawing/2014/main" id="{9DFA35DB-5360-405A-A7EB-064E51FBC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48">
              <a:extLst>
                <a:ext uri="{FF2B5EF4-FFF2-40B4-BE49-F238E27FC236}">
                  <a16:creationId xmlns:a16="http://schemas.microsoft.com/office/drawing/2014/main" id="{2DA499BD-4313-4AD1-BE87-4BEF50FE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49">
              <a:extLst>
                <a:ext uri="{FF2B5EF4-FFF2-40B4-BE49-F238E27FC236}">
                  <a16:creationId xmlns:a16="http://schemas.microsoft.com/office/drawing/2014/main" id="{680E4C6D-12D1-417A-A709-EC416D98F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50">
              <a:extLst>
                <a:ext uri="{FF2B5EF4-FFF2-40B4-BE49-F238E27FC236}">
                  <a16:creationId xmlns:a16="http://schemas.microsoft.com/office/drawing/2014/main" id="{C93537B4-09B6-4CC6-92DE-3D3BDAC7A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51">
              <a:extLst>
                <a:ext uri="{FF2B5EF4-FFF2-40B4-BE49-F238E27FC236}">
                  <a16:creationId xmlns:a16="http://schemas.microsoft.com/office/drawing/2014/main" id="{5D100FC5-9EA8-4DA7-AFA4-BC60831FD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52">
              <a:extLst>
                <a:ext uri="{FF2B5EF4-FFF2-40B4-BE49-F238E27FC236}">
                  <a16:creationId xmlns:a16="http://schemas.microsoft.com/office/drawing/2014/main" id="{3F10D757-6A3B-4314-9755-419B3738E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53">
              <a:extLst>
                <a:ext uri="{FF2B5EF4-FFF2-40B4-BE49-F238E27FC236}">
                  <a16:creationId xmlns:a16="http://schemas.microsoft.com/office/drawing/2014/main" id="{28A4D881-D08B-4AAF-866D-7C3160112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54">
              <a:extLst>
                <a:ext uri="{FF2B5EF4-FFF2-40B4-BE49-F238E27FC236}">
                  <a16:creationId xmlns:a16="http://schemas.microsoft.com/office/drawing/2014/main" id="{A666F3F8-571E-483F-9B9F-31EDB91A9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55">
              <a:extLst>
                <a:ext uri="{FF2B5EF4-FFF2-40B4-BE49-F238E27FC236}">
                  <a16:creationId xmlns:a16="http://schemas.microsoft.com/office/drawing/2014/main" id="{18305C0F-0A00-450D-92A1-313C72439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56">
              <a:extLst>
                <a:ext uri="{FF2B5EF4-FFF2-40B4-BE49-F238E27FC236}">
                  <a16:creationId xmlns:a16="http://schemas.microsoft.com/office/drawing/2014/main" id="{9A5635D8-CCB7-4D16-BB87-B1BC1AC97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57">
              <a:extLst>
                <a:ext uri="{FF2B5EF4-FFF2-40B4-BE49-F238E27FC236}">
                  <a16:creationId xmlns:a16="http://schemas.microsoft.com/office/drawing/2014/main" id="{7C10A784-B5EE-4486-96E7-3CC72B93A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58">
              <a:extLst>
                <a:ext uri="{FF2B5EF4-FFF2-40B4-BE49-F238E27FC236}">
                  <a16:creationId xmlns:a16="http://schemas.microsoft.com/office/drawing/2014/main" id="{AE5FA7CA-916C-4A34-A727-E0289D891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0" name="Picture 2">
            <a:extLst>
              <a:ext uri="{FF2B5EF4-FFF2-40B4-BE49-F238E27FC236}">
                <a16:creationId xmlns:a16="http://schemas.microsoft.com/office/drawing/2014/main" id="{51039561-92F9-40EE-900B-6AA0F580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9525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31DCB8-A568-4FCF-AA3D-E3B4F4C84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3113" y="1122363"/>
            <a:ext cx="4527929" cy="4287836"/>
          </a:xfrm>
        </p:spPr>
        <p:txBody>
          <a:bodyPr anchor="ctr">
            <a:normAutofit/>
          </a:bodyPr>
          <a:lstStyle/>
          <a:p>
            <a:pPr algn="r"/>
            <a:r>
              <a:rPr lang="en-US" sz="6000"/>
              <a:t>Temperature and humidity monitor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902DA06-324A-48CE-8C20-94535480A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133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57CD268-CA4F-4DF1-9386-3D03117651F5}"/>
              </a:ext>
            </a:extLst>
          </p:cNvPr>
          <p:cNvSpPr txBox="1"/>
          <p:nvPr/>
        </p:nvSpPr>
        <p:spPr>
          <a:xfrm>
            <a:off x="2667001" y="3602038"/>
            <a:ext cx="6857999" cy="953029"/>
          </a:xfrm>
          <a:prstGeom prst="rect">
            <a:avLst/>
          </a:prstGeom>
        </p:spPr>
        <p:txBody>
          <a:bodyPr rtlCol="0" anchor="t">
            <a:normAutofit/>
          </a:bodyPr>
          <a:lstStyle/>
          <a:p>
            <a:pPr algn="ctr">
              <a:spcAft>
                <a:spcPts val="600"/>
              </a:spcAft>
            </a:pPr>
            <a:endParaRPr lang="en-US" sz="2400">
              <a:solidFill>
                <a:schemeClr val="bg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1FFA9E-77BD-45DF-A96D-12E274B17D42}"/>
              </a:ext>
            </a:extLst>
          </p:cNvPr>
          <p:cNvSpPr txBox="1"/>
          <p:nvPr/>
        </p:nvSpPr>
        <p:spPr>
          <a:xfrm>
            <a:off x="7579089" y="1555544"/>
            <a:ext cx="4372915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4000">
                <a:ea typeface="宋体"/>
              </a:rPr>
              <a:t>Final Project of</a:t>
            </a:r>
            <a:r>
              <a:rPr lang="zh-CN" altLang="en-US" sz="4000">
                <a:ea typeface="宋体"/>
                <a:cs typeface="+mn-lt"/>
              </a:rPr>
              <a:t>  </a:t>
            </a:r>
            <a:r>
              <a:rPr lang="en-US" altLang="zh-CN" sz="4000">
                <a:ea typeface="+mn-lt"/>
                <a:cs typeface="+mn-lt"/>
              </a:rPr>
              <a:t>Computing</a:t>
            </a:r>
            <a:r>
              <a:rPr lang="zh-CN" altLang="en-US" sz="4000">
                <a:ea typeface="+mn-lt"/>
                <a:cs typeface="+mn-lt"/>
              </a:rPr>
              <a:t> </a:t>
            </a:r>
            <a:r>
              <a:rPr lang="en-US" altLang="zh-CN" sz="4000">
                <a:ea typeface="+mn-lt"/>
                <a:cs typeface="+mn-lt"/>
              </a:rPr>
              <a:t>Principle</a:t>
            </a:r>
            <a:r>
              <a:rPr lang="zh-CN" altLang="en-US" sz="4000">
                <a:ea typeface="+mn-lt"/>
                <a:cs typeface="+mn-lt"/>
              </a:rPr>
              <a:t> </a:t>
            </a:r>
            <a:r>
              <a:rPr lang="en-US" altLang="zh-CN" sz="4000">
                <a:ea typeface="+mn-lt"/>
                <a:cs typeface="+mn-lt"/>
              </a:rPr>
              <a:t>of</a:t>
            </a:r>
            <a:r>
              <a:rPr lang="zh-CN" altLang="en-US" sz="4000">
                <a:ea typeface="+mn-lt"/>
                <a:cs typeface="+mn-lt"/>
              </a:rPr>
              <a:t> </a:t>
            </a:r>
            <a:r>
              <a:rPr lang="en-US" altLang="zh-CN" sz="4000">
                <a:ea typeface="+mn-lt"/>
                <a:cs typeface="+mn-lt"/>
              </a:rPr>
              <a:t>Mobile</a:t>
            </a:r>
            <a:r>
              <a:rPr lang="zh-CN" altLang="en-US" sz="4000">
                <a:ea typeface="+mn-lt"/>
                <a:cs typeface="+mn-lt"/>
              </a:rPr>
              <a:t> </a:t>
            </a:r>
            <a:r>
              <a:rPr lang="en-US" altLang="zh-CN" sz="4000">
                <a:ea typeface="+mn-lt"/>
                <a:cs typeface="+mn-lt"/>
              </a:rPr>
              <a:t>Embedded</a:t>
            </a:r>
            <a:r>
              <a:rPr lang="zh-CN" altLang="en-US" sz="4000">
                <a:ea typeface="+mn-lt"/>
                <a:cs typeface="+mn-lt"/>
              </a:rPr>
              <a:t> </a:t>
            </a:r>
            <a:r>
              <a:rPr lang="en-US" altLang="zh-CN" sz="4000">
                <a:ea typeface="+mn-lt"/>
                <a:cs typeface="+mn-lt"/>
              </a:rPr>
              <a:t>Systems</a:t>
            </a:r>
            <a:r>
              <a:rPr lang="zh-CN" altLang="en-US" sz="4000">
                <a:ea typeface="+mn-lt"/>
                <a:cs typeface="+mn-lt"/>
              </a:rPr>
              <a:t> </a:t>
            </a:r>
          </a:p>
          <a:p>
            <a:r>
              <a:rPr lang="zh-CN" altLang="en-US" sz="4000">
                <a:ea typeface="宋体"/>
              </a:rPr>
              <a:t>Fall 2019</a:t>
            </a:r>
          </a:p>
        </p:txBody>
      </p:sp>
    </p:spTree>
    <p:extLst>
      <p:ext uri="{BB962C8B-B14F-4D97-AF65-F5344CB8AC3E}">
        <p14:creationId xmlns:p14="http://schemas.microsoft.com/office/powerpoint/2010/main" val="1952248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174E31E4-530B-4247-962C-F46F5F66D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1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a16="http://schemas.microsoft.com/office/drawing/2014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6FA2727-C33B-44D1-885B-76DC0424E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64FD4C-29BA-46E7-AE31-AB38BB69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28E5FB6-5905-4F5D-A6CE-E6222C405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F838FE17-378C-4BCE-80C0-FDD1CB074E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12A1474E-6A37-4F4D-A638-DD0EC0A5B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49EA8CC2-4D0F-4C86-9CA9-FC3792FED1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69548BD5-92E6-42BD-9719-16AA005C5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93005965-F240-4349-A563-515973BF01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77A546F-05BB-4274-A6A6-9DACC27AB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7BE7FF91-E18E-41AA-A952-07CB0C02C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3F6A31AA-E4FB-4DD0-9AB1-BDD994CFA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F99B8398-08D8-4C1E-8D7F-BAFB4D3937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CD3984BB-CCC2-49D9-A80B-9507BE5A91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78FF7C07-82F5-4A64-9D71-29CBE1B79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7F1773CA-6AE7-4723-B072-CEC5F3829B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D5EC23E0-B877-4A62-B084-5407401FB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633C4B0E-E7C6-4A1A-9D3A-80C8E3C59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AB21372F-73AC-4C69-81F0-0D44D36F6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B5619D97-D7A8-4DFF-8AB1-F4B393C1B4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55E03CED-9618-41BB-898B-2FECEFD7B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78F0A5C5-589E-4053-A41A-FA77210C3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AC2718F8-15C5-4DAB-B194-AAEE8A205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23C6608B-EA21-4579-B33F-55E52AC287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4A2FEFA2-D838-4CE1-90BA-B6C2EEB5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1A39CA24-DF18-4FCC-8265-36FC72ED5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50A32DBD-9B22-49C3-A628-A98533FBF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A3C0B30D-BB1A-4B3D-A162-3EBE6267F2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092B125A-1548-445E-8689-07BEEC8155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D6A7D7B9-9A7E-4FD2-A1B4-1C5CFAE54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1B0C3F-D935-4306-B5B1-6AA635881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75BC67F5-D485-467A-BCCB-D062EB6DD0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7FB0B620-AB12-4F0B-AD1C-A47A5FBC63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6AEFA891-E591-4F7F-9DBA-FC78E9B8F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78921FFF-4B57-4E33-BE94-5A8BFC95E0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0C4A1658-5AAE-4925-B106-BC0A17862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DE6DF3EB-099A-427A-A999-3BAF3BCA9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CC595EFE-4690-4B81-83B1-F863B951B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400FAC39-AEAC-4B54-9694-29D537C203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C61298B0-056E-4D83-B168-1C054A17A0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9F9E69A2-F9B0-40C2-BDC8-143835426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E79AA19A-D2E5-47F2-AF0A-1AF60D42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2">
            <a:extLst>
              <a:ext uri="{FF2B5EF4-FFF2-40B4-BE49-F238E27FC236}">
                <a16:creationId xmlns:a16="http://schemas.microsoft.com/office/drawing/2014/main" id="{91A1E618-D29E-4367-8C34-500E34D05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dgm="http://schemas.openxmlformats.org/drawingml/2006/diagram" xmlns:p14="http://schemas.microsoft.com/office/powerpoint/2010/main" xmlns:a16="http://schemas.microsoft.com/office/drawing/2014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81F2BFD0-D896-4BA3-BA8F-0C866BD02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E768552D-D282-4F68-A829-290A4E831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B24AFF31-9CD5-4E66-92F8-23BBAA24F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2267C9D4-1770-45DD-AAFC-481CD7F9A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10DD6E0B-EC58-4D78-8125-AD2172CD2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23D6129D-742B-422D-A589-6692C1671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9EA94B27-F456-4ED8-8882-77632BDA0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5B7F96AD-560C-44A0-A513-B06758743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86701218-3235-4E29-9935-1315B5CCA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046B7BE0-D335-42EA-9893-4FA7654F1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1CE912BA-808B-403C-B26F-8083A682E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D974F65A-298C-4395-B461-99B9B49A0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16">
              <a:extLst>
                <a:ext uri="{FF2B5EF4-FFF2-40B4-BE49-F238E27FC236}">
                  <a16:creationId xmlns:a16="http://schemas.microsoft.com/office/drawing/2014/main" id="{700B2930-989F-49DC-B909-8150145AD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795CB5A4-5145-4F55-95D0-6FB820C84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8">
              <a:extLst>
                <a:ext uri="{FF2B5EF4-FFF2-40B4-BE49-F238E27FC236}">
                  <a16:creationId xmlns:a16="http://schemas.microsoft.com/office/drawing/2014/main" id="{54BB8F48-D800-442A-A603-979FE924B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6E863078-201C-4DC0-8D49-077300CE5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20">
              <a:extLst>
                <a:ext uri="{FF2B5EF4-FFF2-40B4-BE49-F238E27FC236}">
                  <a16:creationId xmlns:a16="http://schemas.microsoft.com/office/drawing/2014/main" id="{6A07EBB6-75B0-4867-9AAF-7A645F414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Rectangle 21">
              <a:extLst>
                <a:ext uri="{FF2B5EF4-FFF2-40B4-BE49-F238E27FC236}">
                  <a16:creationId xmlns:a16="http://schemas.microsoft.com/office/drawing/2014/main" id="{FA40A456-C685-468E-802E-FC9DF586A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22">
              <a:extLst>
                <a:ext uri="{FF2B5EF4-FFF2-40B4-BE49-F238E27FC236}">
                  <a16:creationId xmlns:a16="http://schemas.microsoft.com/office/drawing/2014/main" id="{F101202F-1B2A-414C-83B7-9327E599C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23">
              <a:extLst>
                <a:ext uri="{FF2B5EF4-FFF2-40B4-BE49-F238E27FC236}">
                  <a16:creationId xmlns:a16="http://schemas.microsoft.com/office/drawing/2014/main" id="{4CC9B21F-B169-47E9-9B97-3BB645B29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BC5FF733-2B71-4734-AD6A-5B35D99A3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25">
              <a:extLst>
                <a:ext uri="{FF2B5EF4-FFF2-40B4-BE49-F238E27FC236}">
                  <a16:creationId xmlns:a16="http://schemas.microsoft.com/office/drawing/2014/main" id="{0BCEB342-9AFC-4DCB-B92F-E08DC9594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3B9B4933-5C48-49CF-9C6A-A29413150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27">
              <a:extLst>
                <a:ext uri="{FF2B5EF4-FFF2-40B4-BE49-F238E27FC236}">
                  <a16:creationId xmlns:a16="http://schemas.microsoft.com/office/drawing/2014/main" id="{404FC76C-600A-482C-8386-F77ACBCCA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8">
              <a:extLst>
                <a:ext uri="{FF2B5EF4-FFF2-40B4-BE49-F238E27FC236}">
                  <a16:creationId xmlns:a16="http://schemas.microsoft.com/office/drawing/2014/main" id="{E8C5D50B-A590-4AAE-A748-113B62DAD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9">
              <a:extLst>
                <a:ext uri="{FF2B5EF4-FFF2-40B4-BE49-F238E27FC236}">
                  <a16:creationId xmlns:a16="http://schemas.microsoft.com/office/drawing/2014/main" id="{6C045F21-7031-4278-BFEE-A9E856ADA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30">
              <a:extLst>
                <a:ext uri="{FF2B5EF4-FFF2-40B4-BE49-F238E27FC236}">
                  <a16:creationId xmlns:a16="http://schemas.microsoft.com/office/drawing/2014/main" id="{20EE11A6-3412-4362-8A81-592A15F2A1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A376EBB9-93F5-4B6F-95B3-C36B6C851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ECA474-6488-43B1-9247-7A2DCBB4C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254035"/>
            <a:ext cx="2926190" cy="40022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dirty="0">
                <a:solidFill>
                  <a:srgbClr val="FFFFFF"/>
                </a:solidFill>
              </a:rPr>
              <a:t>Team members</a:t>
            </a:r>
            <a:br>
              <a:rPr lang="en-US" sz="3300" dirty="0">
                <a:solidFill>
                  <a:srgbClr val="FFFFFF"/>
                </a:solidFill>
              </a:rPr>
            </a:br>
            <a:r>
              <a:rPr lang="zh-CN" altLang="en-US" sz="3300" dirty="0">
                <a:solidFill>
                  <a:srgbClr val="FFFFFF"/>
                </a:solidFill>
              </a:rPr>
              <a:t>（</a:t>
            </a:r>
            <a:r>
              <a:rPr lang="en-US" altLang="zh-CN" sz="3300" dirty="0" err="1">
                <a:solidFill>
                  <a:srgbClr val="FFFFFF"/>
                </a:solidFill>
              </a:rPr>
              <a:t>ContACT</a:t>
            </a:r>
            <a:r>
              <a:rPr lang="en-US" altLang="zh-CN" sz="3300" dirty="0">
                <a:solidFill>
                  <a:srgbClr val="FFFFFF"/>
                </a:solidFill>
              </a:rPr>
              <a:t> INFO HIDEN FOR PRIVACY)</a:t>
            </a:r>
            <a:endParaRPr lang="en-US" sz="3300" dirty="0">
              <a:solidFill>
                <a:srgbClr val="FFFFFF"/>
              </a:solidFill>
            </a:endParaRPr>
          </a:p>
        </p:txBody>
      </p:sp>
      <p:sp useBgFill="1">
        <p:nvSpPr>
          <p:cNvPr id="87" name="Round Diagonal Corner Rectangle 6">
            <a:extLst>
              <a:ext uri="{FF2B5EF4-FFF2-40B4-BE49-F238E27FC236}">
                <a16:creationId xmlns:a16="http://schemas.microsoft.com/office/drawing/2014/main" id="{092ADBCF-B973-4C52-B740-4963E95B3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FDD94EF-2C73-4E4C-8332-A75D8AC6B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90" name="Freeform 32">
              <a:extLst>
                <a:ext uri="{FF2B5EF4-FFF2-40B4-BE49-F238E27FC236}">
                  <a16:creationId xmlns:a16="http://schemas.microsoft.com/office/drawing/2014/main" id="{16EF4FCE-B4BF-485E-B545-95827107A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33">
              <a:extLst>
                <a:ext uri="{FF2B5EF4-FFF2-40B4-BE49-F238E27FC236}">
                  <a16:creationId xmlns:a16="http://schemas.microsoft.com/office/drawing/2014/main" id="{C2DD2F29-32E6-486A-A295-CB29680AD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34">
              <a:extLst>
                <a:ext uri="{FF2B5EF4-FFF2-40B4-BE49-F238E27FC236}">
                  <a16:creationId xmlns:a16="http://schemas.microsoft.com/office/drawing/2014/main" id="{B1A76276-E7B7-4550-9AFF-0A2E9EAEA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35">
              <a:extLst>
                <a:ext uri="{FF2B5EF4-FFF2-40B4-BE49-F238E27FC236}">
                  <a16:creationId xmlns:a16="http://schemas.microsoft.com/office/drawing/2014/main" id="{EAFC4E0E-3390-457C-BCC9-A2479C10F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6">
              <a:extLst>
                <a:ext uri="{FF2B5EF4-FFF2-40B4-BE49-F238E27FC236}">
                  <a16:creationId xmlns:a16="http://schemas.microsoft.com/office/drawing/2014/main" id="{D0E59BF7-C450-4448-B71A-80ECD878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37">
              <a:extLst>
                <a:ext uri="{FF2B5EF4-FFF2-40B4-BE49-F238E27FC236}">
                  <a16:creationId xmlns:a16="http://schemas.microsoft.com/office/drawing/2014/main" id="{BAB182A0-0A27-42D3-A9D0-56E8B7F4A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8">
              <a:extLst>
                <a:ext uri="{FF2B5EF4-FFF2-40B4-BE49-F238E27FC236}">
                  <a16:creationId xmlns:a16="http://schemas.microsoft.com/office/drawing/2014/main" id="{4C9A08D9-525C-448E-A071-78226848F4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9">
              <a:extLst>
                <a:ext uri="{FF2B5EF4-FFF2-40B4-BE49-F238E27FC236}">
                  <a16:creationId xmlns:a16="http://schemas.microsoft.com/office/drawing/2014/main" id="{E7818D96-423C-499F-A080-00EF0B9D4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40">
              <a:extLst>
                <a:ext uri="{FF2B5EF4-FFF2-40B4-BE49-F238E27FC236}">
                  <a16:creationId xmlns:a16="http://schemas.microsoft.com/office/drawing/2014/main" id="{059B8971-2367-46BA-8FCC-D001A6C36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41">
              <a:extLst>
                <a:ext uri="{FF2B5EF4-FFF2-40B4-BE49-F238E27FC236}">
                  <a16:creationId xmlns:a16="http://schemas.microsoft.com/office/drawing/2014/main" id="{E4DF0A08-11EF-495A-980F-2ED66FBB8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D63EDEF6-A5B1-465F-9B56-E74EF1445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3367445"/>
              </p:ext>
            </p:extLst>
          </p:nvPr>
        </p:nvGraphicFramePr>
        <p:xfrm>
          <a:off x="4423954" y="1254035"/>
          <a:ext cx="6296297" cy="4002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0959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CF7E9F-54CF-45DE-B07C-BFA4154F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6" y="976472"/>
            <a:ext cx="2688565" cy="467034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guideline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6096B7-FC37-4D30-94E4-40410083C25E}"/>
              </a:ext>
            </a:extLst>
          </p:cNvPr>
          <p:cNvSpPr txBox="1">
            <a:spLocks/>
          </p:cNvSpPr>
          <p:nvPr/>
        </p:nvSpPr>
        <p:spPr>
          <a:xfrm>
            <a:off x="1350936" y="1798947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>
              <a:solidFill>
                <a:schemeClr val="tx1">
                  <a:lumMod val="95000"/>
                </a:schemeClr>
              </a:solidFill>
            </a:endParaRPr>
          </a:p>
          <a:p>
            <a:endParaRPr lang="en-US" sz="280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C030F-E04A-4D0F-9185-B3FF40C8C02D}"/>
              </a:ext>
            </a:extLst>
          </p:cNvPr>
          <p:cNvSpPr txBox="1"/>
          <p:nvPr/>
        </p:nvSpPr>
        <p:spPr>
          <a:xfrm>
            <a:off x="4316442" y="2051481"/>
            <a:ext cx="6078747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Objective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Approaches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Result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Challenges &amp; Limitations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Future 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4FCD48-BD7F-46A0-838E-CFF7C4543639}"/>
              </a:ext>
            </a:extLst>
          </p:cNvPr>
          <p:cNvSpPr/>
          <p:nvPr/>
        </p:nvSpPr>
        <p:spPr>
          <a:xfrm>
            <a:off x="3625970" y="-4313"/>
            <a:ext cx="129396" cy="6857999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8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CF7E9F-54CF-45DE-B07C-BFA4154F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6" y="976472"/>
            <a:ext cx="2688565" cy="467034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Objectives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6096B7-FC37-4D30-94E4-40410083C25E}"/>
              </a:ext>
            </a:extLst>
          </p:cNvPr>
          <p:cNvSpPr txBox="1">
            <a:spLocks/>
          </p:cNvSpPr>
          <p:nvPr/>
        </p:nvSpPr>
        <p:spPr>
          <a:xfrm>
            <a:off x="1350936" y="1798947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>
              <a:solidFill>
                <a:schemeClr val="tx1">
                  <a:lumMod val="95000"/>
                </a:schemeClr>
              </a:solidFill>
            </a:endParaRPr>
          </a:p>
          <a:p>
            <a:endParaRPr lang="en-US" sz="280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C030F-E04A-4D0F-9185-B3FF40C8C02D}"/>
              </a:ext>
            </a:extLst>
          </p:cNvPr>
          <p:cNvSpPr txBox="1"/>
          <p:nvPr/>
        </p:nvSpPr>
        <p:spPr>
          <a:xfrm>
            <a:off x="4221192" y="1446363"/>
            <a:ext cx="6078747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This project aims to monitor the abnormal temperature and humidity of a certain area(e.g. inside the machine or space where needs to dry and confined)</a:t>
            </a:r>
          </a:p>
          <a:p>
            <a:endParaRPr lang="en-US" sz="2800"/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Industry automation monitor(e.g. Soy Sauce industry)</a:t>
            </a:r>
          </a:p>
          <a:p>
            <a:pPr marL="285750" indent="-285750">
              <a:buFont typeface="Arial"/>
              <a:buChar char="•"/>
            </a:pPr>
            <a:r>
              <a:rPr lang="en-US" sz="2800" err="1">
                <a:ea typeface="+mn-lt"/>
                <a:cs typeface="+mn-lt"/>
              </a:rPr>
              <a:t>SmartHome</a:t>
            </a:r>
            <a:r>
              <a:rPr lang="en-US" sz="2800">
                <a:ea typeface="+mn-lt"/>
                <a:cs typeface="+mn-lt"/>
              </a:rPr>
              <a:t> monitoring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4FCD48-BD7F-46A0-838E-CFF7C4543639}"/>
              </a:ext>
            </a:extLst>
          </p:cNvPr>
          <p:cNvSpPr/>
          <p:nvPr/>
        </p:nvSpPr>
        <p:spPr>
          <a:xfrm>
            <a:off x="3625970" y="-4313"/>
            <a:ext cx="129396" cy="6857999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7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994E-0FC3-410F-B97C-6DD1954D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878" y="385165"/>
            <a:ext cx="9920375" cy="941717"/>
          </a:xfrm>
        </p:spPr>
        <p:txBody>
          <a:bodyPr/>
          <a:lstStyle/>
          <a:p>
            <a:r>
              <a:rPr lang="en-US"/>
              <a:t>Approaches -- Sensors and hardware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23D19-DF84-45E3-A695-125FEF79A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326779"/>
            <a:ext cx="3196899" cy="465016"/>
          </a:xfrm>
        </p:spPr>
        <p:txBody>
          <a:bodyPr/>
          <a:lstStyle/>
          <a:p>
            <a:r>
              <a:rPr lang="en-US"/>
              <a:t>Raspberry pi 3b+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F6DAE-3D53-4D4C-80C1-F6BBA45D8497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98522" y="2095055"/>
            <a:ext cx="3208735" cy="149640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Bluetooth enabled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32 GB SD card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CEC173-F13A-47CD-A4FC-82CA0DF9B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42238" y="1326778"/>
            <a:ext cx="3184385" cy="752563"/>
          </a:xfrm>
        </p:spPr>
        <p:txBody>
          <a:bodyPr/>
          <a:lstStyle/>
          <a:p>
            <a:r>
              <a:rPr lang="en-US"/>
              <a:t>Raspberry pi mini camera v2.1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9C7405-D796-4F23-ABDB-993EDB870DF6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346063" y="2194361"/>
            <a:ext cx="3210207" cy="1500917"/>
          </a:xfrm>
        </p:spPr>
        <p:txBody>
          <a:bodyPr>
            <a:normAutofit fontScale="92500"/>
          </a:bodyPr>
          <a:lstStyle/>
          <a:p>
            <a:pPr marL="342900" indent="-342900">
              <a:buChar char="•"/>
            </a:pPr>
            <a:r>
              <a:rPr lang="en-US" sz="2400">
                <a:ea typeface="+mn-lt"/>
                <a:cs typeface="+mn-lt"/>
              </a:rPr>
              <a:t>Maximum of 1080P30 and 8MP Stills in Raspberry Pi Board</a:t>
            </a:r>
            <a:endParaRPr lang="en-US" sz="2400"/>
          </a:p>
          <a:p>
            <a:pPr marL="285750" indent="-285750">
              <a:buChar char="•"/>
            </a:pPr>
            <a:endParaRPr lang="en-US" sz="24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48C792-2BE1-44C9-897A-636EB24EA6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2441" y="1326778"/>
            <a:ext cx="3531175" cy="752563"/>
          </a:xfrm>
        </p:spPr>
        <p:txBody>
          <a:bodyPr/>
          <a:lstStyle/>
          <a:p>
            <a:r>
              <a:rPr lang="en-US"/>
              <a:t>Temperature and humidity sensor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B39A06-52E3-4013-ABE8-20CA69F9AF2B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52442" y="2194361"/>
            <a:ext cx="3531174" cy="1512122"/>
          </a:xfr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sz="2400">
                <a:ea typeface="+mn-lt"/>
                <a:cs typeface="+mn-lt"/>
              </a:rPr>
              <a:t>Sensor Model: AM2302</a:t>
            </a:r>
          </a:p>
          <a:p>
            <a:pPr marL="342900" indent="-342900">
              <a:buChar char="•"/>
            </a:pPr>
            <a:r>
              <a:rPr lang="en-US" sz="2400">
                <a:ea typeface="+mn-lt"/>
                <a:cs typeface="+mn-lt"/>
              </a:rPr>
              <a:t>Signal output: digital </a:t>
            </a:r>
            <a:endParaRPr lang="en-US" sz="2400"/>
          </a:p>
          <a:p>
            <a:pPr marL="285750" indent="-285750">
              <a:buChar char="•"/>
            </a:pPr>
            <a:endParaRPr lang="en-US" sz="2400"/>
          </a:p>
        </p:txBody>
      </p:sp>
      <p:pic>
        <p:nvPicPr>
          <p:cNvPr id="10" name="Picture 9" descr="A circuit board&#10;&#10;Description automatically generated">
            <a:extLst>
              <a:ext uri="{FF2B5EF4-FFF2-40B4-BE49-F238E27FC236}">
                <a16:creationId xmlns:a16="http://schemas.microsoft.com/office/drawing/2014/main" id="{69672303-A7A1-4F4E-AB67-65107E822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578" y="3744135"/>
            <a:ext cx="2670567" cy="2298416"/>
          </a:xfrm>
          <a:prstGeom prst="rect">
            <a:avLst/>
          </a:prstGeom>
        </p:spPr>
      </p:pic>
      <p:pic>
        <p:nvPicPr>
          <p:cNvPr id="9" name="Picture 10" descr="A circuit board&#10;&#10;Description generated with very high confidence">
            <a:extLst>
              <a:ext uri="{FF2B5EF4-FFF2-40B4-BE49-F238E27FC236}">
                <a16:creationId xmlns:a16="http://schemas.microsoft.com/office/drawing/2014/main" id="{4F25D32F-5983-49A5-A155-0A1EE41DE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418" y="3682040"/>
            <a:ext cx="2556295" cy="2426899"/>
          </a:xfrm>
          <a:prstGeom prst="rect">
            <a:avLst/>
          </a:prstGeom>
        </p:spPr>
      </p:pic>
      <p:pic>
        <p:nvPicPr>
          <p:cNvPr id="12" name="Picture 12" descr="A circuit board&#10;&#10;Description generated with high confidence">
            <a:extLst>
              <a:ext uri="{FF2B5EF4-FFF2-40B4-BE49-F238E27FC236}">
                <a16:creationId xmlns:a16="http://schemas.microsoft.com/office/drawing/2014/main" id="{9F951E5E-A8FC-4986-8A4E-D871F3624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664" y="3739550"/>
            <a:ext cx="2455653" cy="242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6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A031-F591-4F33-8A16-CD9770CB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W Cen MT"/>
              </a:rPr>
              <a:t>APPROACHES – TEMPERATURE AND HUMIDITY SENSOR</a:t>
            </a:r>
            <a:endParaRPr lang="en-US">
              <a:ea typeface="+mj-lt"/>
              <a:cs typeface="+mj-lt"/>
            </a:endParaRP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55A1D-36F4-421C-AD7F-D45FB9F3E919}"/>
              </a:ext>
            </a:extLst>
          </p:cNvPr>
          <p:cNvSpPr txBox="1"/>
          <p:nvPr/>
        </p:nvSpPr>
        <p:spPr>
          <a:xfrm>
            <a:off x="1058174" y="1777042"/>
            <a:ext cx="10133161" cy="31105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Low cost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 capacitive </a:t>
            </a:r>
            <a:r>
              <a:rPr lang="en-US" sz="2400" b="1">
                <a:ea typeface="+mn-lt"/>
                <a:cs typeface="+mn-lt"/>
              </a:rPr>
              <a:t>humidity sensor</a:t>
            </a:r>
            <a:r>
              <a:rPr lang="en-US" sz="2400">
                <a:ea typeface="+mn-lt"/>
                <a:cs typeface="+mn-lt"/>
              </a:rPr>
              <a:t> and a thermistor to </a:t>
            </a:r>
            <a:r>
              <a:rPr lang="en-US" sz="2400" b="1">
                <a:ea typeface="+mn-lt"/>
                <a:cs typeface="+mn-lt"/>
              </a:rPr>
              <a:t>measure</a:t>
            </a:r>
            <a:r>
              <a:rPr lang="en-US" sz="2400">
                <a:ea typeface="+mn-lt"/>
                <a:cs typeface="+mn-lt"/>
              </a:rPr>
              <a:t> the surrounding air</a:t>
            </a:r>
            <a:endParaRPr lang="en-US" sz="2400">
              <a:latin typeface="TW Cen M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W Cen MT"/>
              </a:rPr>
              <a:t>Temperature measurement range: -40 ℃ --80 ℃ with ±0.5°C accuracy</a:t>
            </a:r>
            <a:endParaRPr lang="en-US" sz="240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latin typeface="TW Cen MT"/>
              </a:rPr>
              <a:t>Humidity measuring range: 0--100% RH </a:t>
            </a:r>
            <a:r>
              <a:rPr lang="en-US" sz="2400">
                <a:ea typeface="+mn-lt"/>
                <a:cs typeface="+mn-lt"/>
              </a:rPr>
              <a:t>with 2-5% accuracy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2347872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505A43-ECD1-4868-A73C-F8472B39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/>
              </a:rPr>
              <a:t>Approaches – bluetooth control and transmittion </a:t>
            </a:r>
            <a:endParaRPr lang="zh-CN" altLang="en-US"/>
          </a:p>
        </p:txBody>
      </p:sp>
      <p:pic>
        <p:nvPicPr>
          <p:cNvPr id="4" name="图片 4" descr="卡通人物&#10;&#10;已生成高可信度的说明">
            <a:extLst>
              <a:ext uri="{FF2B5EF4-FFF2-40B4-BE49-F238E27FC236}">
                <a16:creationId xmlns:a16="http://schemas.microsoft.com/office/drawing/2014/main" id="{74741281-4C1F-4FC9-8026-7962BF3AAB4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590706" y="2098151"/>
            <a:ext cx="2568080" cy="3424107"/>
          </a:xfrm>
        </p:spPr>
      </p:pic>
      <p:pic>
        <p:nvPicPr>
          <p:cNvPr id="5" name="Picture 5" descr="A picture containing computer&#10;&#10;Description generated with very high confidence">
            <a:extLst>
              <a:ext uri="{FF2B5EF4-FFF2-40B4-BE49-F238E27FC236}">
                <a16:creationId xmlns:a16="http://schemas.microsoft.com/office/drawing/2014/main" id="{3FD80BAE-5B7F-478D-B35C-FF2D6C1B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683" y="2431211"/>
            <a:ext cx="2743200" cy="2743200"/>
          </a:xfrm>
          <a:prstGeom prst="rect">
            <a:avLst/>
          </a:prstGeom>
        </p:spPr>
      </p:pic>
      <p:pic>
        <p:nvPicPr>
          <p:cNvPr id="6" name="图片 6" descr="图片包含 游戏机, 画, 标志&#10;&#10;已生成极高可信度的说明">
            <a:extLst>
              <a:ext uri="{FF2B5EF4-FFF2-40B4-BE49-F238E27FC236}">
                <a16:creationId xmlns:a16="http://schemas.microsoft.com/office/drawing/2014/main" id="{FE4F6F7F-249F-4F4F-9E43-31B36A5DC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262" y="2430149"/>
            <a:ext cx="1971675" cy="2314575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C564BA8C-25A6-4A26-AD63-8219E2A6BE46}"/>
              </a:ext>
            </a:extLst>
          </p:cNvPr>
          <p:cNvSpPr/>
          <p:nvPr/>
        </p:nvSpPr>
        <p:spPr>
          <a:xfrm>
            <a:off x="4269702" y="2352796"/>
            <a:ext cx="2372263" cy="33068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4A03A73-41B4-4DE0-85B6-FFFF31944559}"/>
              </a:ext>
            </a:extLst>
          </p:cNvPr>
          <p:cNvSpPr/>
          <p:nvPr/>
        </p:nvSpPr>
        <p:spPr>
          <a:xfrm rot="10800000">
            <a:off x="4269701" y="5012607"/>
            <a:ext cx="2372263" cy="33068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3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B169DC-4AC1-4536-ADEC-ABE51B340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F32D61-F8A1-4F29-80B9-41A19C37B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4" descr="图片包含 游戏机&#10;&#10;已生成极高可信度的说明">
            <a:extLst>
              <a:ext uri="{FF2B5EF4-FFF2-40B4-BE49-F238E27FC236}">
                <a16:creationId xmlns:a16="http://schemas.microsoft.com/office/drawing/2014/main" id="{A007A6F6-9C9B-44AC-BBCF-065159B4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293" y="-63022"/>
            <a:ext cx="12739731" cy="687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374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CF7E9F-54CF-45DE-B07C-BFA4154F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722" y="674548"/>
            <a:ext cx="9905998" cy="91785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Approaches -- the work function of pi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6096B7-FC37-4D30-94E4-40410083C25E}"/>
              </a:ext>
            </a:extLst>
          </p:cNvPr>
          <p:cNvSpPr txBox="1">
            <a:spLocks/>
          </p:cNvSpPr>
          <p:nvPr/>
        </p:nvSpPr>
        <p:spPr>
          <a:xfrm>
            <a:off x="1350936" y="1798947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chemeClr val="tx1">
                    <a:lumMod val="95000"/>
                  </a:schemeClr>
                </a:solidFill>
              </a:rPr>
              <a:t>Place the Raspberry Pi in the position to be monitored</a:t>
            </a:r>
          </a:p>
          <a:p>
            <a:r>
              <a:rPr lang="en-US" sz="2800">
                <a:solidFill>
                  <a:schemeClr val="tx1">
                    <a:lumMod val="95000"/>
                  </a:schemeClr>
                </a:solidFill>
              </a:rPr>
              <a:t>The Pi continuously reads the temperature and humidity every 15 second(editable)</a:t>
            </a:r>
          </a:p>
          <a:p>
            <a:r>
              <a:rPr lang="en-US" sz="2800">
                <a:solidFill>
                  <a:schemeClr val="tx1">
                    <a:lumMod val="95000"/>
                  </a:schemeClr>
                </a:solidFill>
              </a:rPr>
              <a:t>Once an abnormal reading, either temperature or humidity, is detected(</a:t>
            </a:r>
            <a:r>
              <a:rPr lang="en-US" sz="2800">
                <a:solidFill>
                  <a:schemeClr val="accent3"/>
                </a:solidFill>
              </a:rPr>
              <a:t>larger than the threshold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</a:rPr>
              <a:t>), the readings and a photo will be recorded then stored in the Pi</a:t>
            </a:r>
          </a:p>
          <a:p>
            <a:endParaRPr lang="en-US" sz="280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568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C77E4A6-86AA-4802-BE96-ED147CD22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51283"/>
            <a:ext cx="9905998" cy="1478570"/>
          </a:xfrm>
        </p:spPr>
        <p:txBody>
          <a:bodyPr/>
          <a:lstStyle/>
          <a:p>
            <a:r>
              <a:rPr lang="en-US"/>
              <a:t>Approaches – work function of phone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B7F4ED-E033-4534-8403-0283F8732FD7}"/>
              </a:ext>
            </a:extLst>
          </p:cNvPr>
          <p:cNvSpPr txBox="1">
            <a:spLocks/>
          </p:cNvSpPr>
          <p:nvPr/>
        </p:nvSpPr>
        <p:spPr>
          <a:xfrm>
            <a:off x="4564915" y="1715957"/>
            <a:ext cx="5891355" cy="45143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chemeClr val="tx1">
                    <a:lumMod val="95000"/>
                  </a:schemeClr>
                </a:solidFill>
              </a:rPr>
              <a:t>Open the designed app in the Android phone.</a:t>
            </a:r>
          </a:p>
          <a:p>
            <a:r>
              <a:rPr lang="en-US" sz="2800">
                <a:solidFill>
                  <a:schemeClr val="tx1">
                    <a:lumMod val="95000"/>
                  </a:schemeClr>
                </a:solidFill>
              </a:rPr>
              <a:t>Using the button '</a:t>
            </a:r>
            <a:r>
              <a:rPr lang="en-US" sz="2800" err="1">
                <a:solidFill>
                  <a:schemeClr val="tx1">
                    <a:lumMod val="95000"/>
                  </a:schemeClr>
                </a:solidFill>
              </a:rPr>
              <a:t>TurnOnBluetooth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</a:rPr>
              <a:t>' to </a:t>
            </a:r>
            <a:r>
              <a:rPr lang="en-US" sz="2800">
                <a:ea typeface="+mn-lt"/>
                <a:cs typeface="+mn-lt"/>
              </a:rPr>
              <a:t>Turn on Bluetooth on your phone to pair with Raspberry Pi's Bluetooth.</a:t>
            </a:r>
            <a:endParaRPr lang="en-US" sz="28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sz="2800">
                <a:solidFill>
                  <a:srgbClr val="FFFFFF"/>
                </a:solidFill>
              </a:rPr>
              <a:t>Using the button 'Receive Picture' to get the picture saved in Pi.</a:t>
            </a:r>
          </a:p>
        </p:txBody>
      </p:sp>
      <p:pic>
        <p:nvPicPr>
          <p:cNvPr id="3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205F6F4-96C5-431E-B0D3-8AA3A4A2C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25" y="1717012"/>
            <a:ext cx="2376392" cy="418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2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E37280-4F5D-4438-A56F-E70E07BD992F}"/>
              </a:ext>
            </a:extLst>
          </p:cNvPr>
          <p:cNvSpPr txBox="1"/>
          <p:nvPr/>
        </p:nvSpPr>
        <p:spPr>
          <a:xfrm>
            <a:off x="1417608" y="468702"/>
            <a:ext cx="7315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/>
              <a:t>Running codes in Pi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C77E4A6-86AA-4802-BE96-ED147CD22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31589"/>
          </a:xfrm>
        </p:spPr>
        <p:txBody>
          <a:bodyPr/>
          <a:lstStyle/>
          <a:p>
            <a:r>
              <a:rPr lang="en-US"/>
              <a:t>  </a:t>
            </a:r>
            <a:endParaRPr lang="en-US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65C8F-F497-4597-9A8D-92505407E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557" y="1450107"/>
            <a:ext cx="6590476" cy="42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7054D7-8795-4240-BE18-5326E440A36A}"/>
              </a:ext>
            </a:extLst>
          </p:cNvPr>
          <p:cNvSpPr txBox="1"/>
          <p:nvPr/>
        </p:nvSpPr>
        <p:spPr>
          <a:xfrm>
            <a:off x="7768542" y="2152694"/>
            <a:ext cx="35359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ground truth is obtained from a thermometer. The room temperature is 25.0˚C. The accuracy is within 0.2 ˚C </a:t>
            </a:r>
          </a:p>
          <a:p>
            <a:r>
              <a:rPr lang="en-US" dirty="0"/>
              <a:t>We are 98% confident about the temperature sensor reading</a:t>
            </a:r>
          </a:p>
          <a:p>
            <a:endParaRPr lang="en-US" dirty="0"/>
          </a:p>
          <a:p>
            <a:r>
              <a:rPr lang="en-US" dirty="0"/>
              <a:t>We tested humidity sensor with a moist environment and get positive result. In future work, a humidity monitor can be used during the experiments.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887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F179-8BCD-43CB-8559-550754AC5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784" y="176700"/>
            <a:ext cx="6103312" cy="876722"/>
          </a:xfrm>
        </p:spPr>
        <p:txBody>
          <a:bodyPr vert="horz" lIns="91440" tIns="45720" rIns="91440" bIns="0" rtlCol="0" anchor="b">
            <a:noAutofit/>
          </a:bodyPr>
          <a:lstStyle/>
          <a:p>
            <a:r>
              <a:rPr lang="en-US" sz="3200"/>
              <a:t>Result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8D6D8E8-F198-4D5B-B337-3B94CE62B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511" y="1349465"/>
            <a:ext cx="2896966" cy="5150164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54E6A8D-4AD1-42AE-A0B0-646DC2684872}"/>
              </a:ext>
            </a:extLst>
          </p:cNvPr>
          <p:cNvSpPr/>
          <p:nvPr/>
        </p:nvSpPr>
        <p:spPr>
          <a:xfrm>
            <a:off x="2618611" y="4742152"/>
            <a:ext cx="849974" cy="64487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6B74747-37ED-4DE1-9730-E206D0D22013}"/>
              </a:ext>
            </a:extLst>
          </p:cNvPr>
          <p:cNvCxnSpPr>
            <a:cxnSpLocks/>
          </p:cNvCxnSpPr>
          <p:nvPr/>
        </p:nvCxnSpPr>
        <p:spPr>
          <a:xfrm flipV="1">
            <a:off x="3468586" y="4370245"/>
            <a:ext cx="1480686" cy="6943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7" descr="A screen shot of a social media post&#10;&#10;Description generated with high confidence">
            <a:extLst>
              <a:ext uri="{FF2B5EF4-FFF2-40B4-BE49-F238E27FC236}">
                <a16:creationId xmlns:a16="http://schemas.microsoft.com/office/drawing/2014/main" id="{42E4B39D-F990-4BEC-B884-953F1E224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109" y="1342844"/>
            <a:ext cx="2860915" cy="5135593"/>
          </a:xfrm>
          <a:prstGeom prst="rect">
            <a:avLst/>
          </a:prstGeom>
        </p:spPr>
      </p:pic>
      <p:pic>
        <p:nvPicPr>
          <p:cNvPr id="9" name="Picture 9" descr="A picture containing indoor, table, sitting, small&#10;&#10;Description generated with very high confidence">
            <a:extLst>
              <a:ext uri="{FF2B5EF4-FFF2-40B4-BE49-F238E27FC236}">
                <a16:creationId xmlns:a16="http://schemas.microsoft.com/office/drawing/2014/main" id="{63398F68-81C3-472B-A7EF-84CF973AC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174" y="1600198"/>
            <a:ext cx="3030747" cy="406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24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a16="http://schemas.microsoft.com/office/drawing/2014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B7D4B16D-600A-41A1-8B1B-3727C56C0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E7C35E0-BD19-4AFC-81BF-7A7507E9C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60000"/>
            </a:schemeClr>
          </a:solidFill>
          <a:effectLst/>
        </p:grpSpPr>
        <p:sp>
          <p:nvSpPr>
            <p:cNvPr id="68" name="Rectangle 5">
              <a:extLst>
                <a:ext uri="{FF2B5EF4-FFF2-40B4-BE49-F238E27FC236}">
                  <a16:creationId xmlns:a16="http://schemas.microsoft.com/office/drawing/2014/main" id="{1E08D20A-3975-4596-85C6-D46799586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">
              <a:extLst>
                <a:ext uri="{FF2B5EF4-FFF2-40B4-BE49-F238E27FC236}">
                  <a16:creationId xmlns:a16="http://schemas.microsoft.com/office/drawing/2014/main" id="{630A9349-BFE4-4720-A229-98DCD3B6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28487744-BBC9-4D40-85B3-0D45003C3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Rectangle 8">
              <a:extLst>
                <a:ext uri="{FF2B5EF4-FFF2-40B4-BE49-F238E27FC236}">
                  <a16:creationId xmlns:a16="http://schemas.microsoft.com/office/drawing/2014/main" id="{FAD6EF4D-97BD-46B4-9B5B-CD70971D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210DCC42-11D2-4162-B47A-869B3F669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DE4880D6-6ECE-4F1B-B474-FE3940D04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1">
              <a:extLst>
                <a:ext uri="{FF2B5EF4-FFF2-40B4-BE49-F238E27FC236}">
                  <a16:creationId xmlns:a16="http://schemas.microsoft.com/office/drawing/2014/main" id="{A1A39307-F675-49D2-9E45-28DA2AB5C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2">
              <a:extLst>
                <a:ext uri="{FF2B5EF4-FFF2-40B4-BE49-F238E27FC236}">
                  <a16:creationId xmlns:a16="http://schemas.microsoft.com/office/drawing/2014/main" id="{AC5E23C5-C5D6-4BC3-9531-C0B2D7D29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4D3FC0A7-9672-4B19-8D54-71C3B39F7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9911D04C-3FFB-4D1E-8F59-5C02692E3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5">
              <a:extLst>
                <a:ext uri="{FF2B5EF4-FFF2-40B4-BE49-F238E27FC236}">
                  <a16:creationId xmlns:a16="http://schemas.microsoft.com/office/drawing/2014/main" id="{A0178C8F-EF32-4F3D-B022-60A7DE136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EEB2DD25-DE0D-48CE-8218-E4EF12273A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7">
              <a:extLst>
                <a:ext uri="{FF2B5EF4-FFF2-40B4-BE49-F238E27FC236}">
                  <a16:creationId xmlns:a16="http://schemas.microsoft.com/office/drawing/2014/main" id="{13C92E55-66CB-48F7-BF28-5D8ED146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8">
              <a:extLst>
                <a:ext uri="{FF2B5EF4-FFF2-40B4-BE49-F238E27FC236}">
                  <a16:creationId xmlns:a16="http://schemas.microsoft.com/office/drawing/2014/main" id="{CB0B6C7B-4820-48AB-92AF-896559F00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2018EECD-4518-458F-989E-6FCAE5AE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1FB0915F-3C52-468A-87E7-F3EE381D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7B184771-5A8E-4ED5-9179-24B19F26C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2">
              <a:extLst>
                <a:ext uri="{FF2B5EF4-FFF2-40B4-BE49-F238E27FC236}">
                  <a16:creationId xmlns:a16="http://schemas.microsoft.com/office/drawing/2014/main" id="{BC5162D1-D64C-4FBA-BE86-11B27A743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3">
              <a:extLst>
                <a:ext uri="{FF2B5EF4-FFF2-40B4-BE49-F238E27FC236}">
                  <a16:creationId xmlns:a16="http://schemas.microsoft.com/office/drawing/2014/main" id="{9EFF345C-6A58-4123-B2D1-2ED9E3691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4">
              <a:extLst>
                <a:ext uri="{FF2B5EF4-FFF2-40B4-BE49-F238E27FC236}">
                  <a16:creationId xmlns:a16="http://schemas.microsoft.com/office/drawing/2014/main" id="{03CE89F7-AE1C-4370-920E-EE04C4124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5">
              <a:extLst>
                <a:ext uri="{FF2B5EF4-FFF2-40B4-BE49-F238E27FC236}">
                  <a16:creationId xmlns:a16="http://schemas.microsoft.com/office/drawing/2014/main" id="{D6E298F6-F99D-49EF-B614-24D2179C2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6">
              <a:extLst>
                <a:ext uri="{FF2B5EF4-FFF2-40B4-BE49-F238E27FC236}">
                  <a16:creationId xmlns:a16="http://schemas.microsoft.com/office/drawing/2014/main" id="{2424FD35-451D-468C-9EB2-8DA350C12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7">
              <a:extLst>
                <a:ext uri="{FF2B5EF4-FFF2-40B4-BE49-F238E27FC236}">
                  <a16:creationId xmlns:a16="http://schemas.microsoft.com/office/drawing/2014/main" id="{45BC0C6F-B91F-42CC-9046-522FE8223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8">
              <a:extLst>
                <a:ext uri="{FF2B5EF4-FFF2-40B4-BE49-F238E27FC236}">
                  <a16:creationId xmlns:a16="http://schemas.microsoft.com/office/drawing/2014/main" id="{F88AFBEE-A8B5-4B18-B834-5269F6C13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9">
              <a:extLst>
                <a:ext uri="{FF2B5EF4-FFF2-40B4-BE49-F238E27FC236}">
                  <a16:creationId xmlns:a16="http://schemas.microsoft.com/office/drawing/2014/main" id="{64B0F493-EC69-4C85-87D4-287628231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30">
              <a:extLst>
                <a:ext uri="{FF2B5EF4-FFF2-40B4-BE49-F238E27FC236}">
                  <a16:creationId xmlns:a16="http://schemas.microsoft.com/office/drawing/2014/main" id="{09920E7F-979C-40F6-8FB1-791325A4A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1">
              <a:extLst>
                <a:ext uri="{FF2B5EF4-FFF2-40B4-BE49-F238E27FC236}">
                  <a16:creationId xmlns:a16="http://schemas.microsoft.com/office/drawing/2014/main" id="{1387BCC3-D7BF-443E-B18C-87B696E64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32">
              <a:extLst>
                <a:ext uri="{FF2B5EF4-FFF2-40B4-BE49-F238E27FC236}">
                  <a16:creationId xmlns:a16="http://schemas.microsoft.com/office/drawing/2014/main" id="{F1C0670D-9FA2-48D7-AFDB-4438ECC3E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Rectangle 33">
              <a:extLst>
                <a:ext uri="{FF2B5EF4-FFF2-40B4-BE49-F238E27FC236}">
                  <a16:creationId xmlns:a16="http://schemas.microsoft.com/office/drawing/2014/main" id="{34088C0C-CAD1-4E66-A162-1D7020365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4">
              <a:extLst>
                <a:ext uri="{FF2B5EF4-FFF2-40B4-BE49-F238E27FC236}">
                  <a16:creationId xmlns:a16="http://schemas.microsoft.com/office/drawing/2014/main" id="{B8C224A6-72B4-4763-B708-65A321D0D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5">
              <a:extLst>
                <a:ext uri="{FF2B5EF4-FFF2-40B4-BE49-F238E27FC236}">
                  <a16:creationId xmlns:a16="http://schemas.microsoft.com/office/drawing/2014/main" id="{2EE3A964-523C-470B-8B10-09053452C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6">
              <a:extLst>
                <a:ext uri="{FF2B5EF4-FFF2-40B4-BE49-F238E27FC236}">
                  <a16:creationId xmlns:a16="http://schemas.microsoft.com/office/drawing/2014/main" id="{1B87487E-C0EA-4E2A-8FC0-3D4C4F017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7">
              <a:extLst>
                <a:ext uri="{FF2B5EF4-FFF2-40B4-BE49-F238E27FC236}">
                  <a16:creationId xmlns:a16="http://schemas.microsoft.com/office/drawing/2014/main" id="{D8B57E7E-D885-4A0B-BBA0-E3BC3A68C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8">
              <a:extLst>
                <a:ext uri="{FF2B5EF4-FFF2-40B4-BE49-F238E27FC236}">
                  <a16:creationId xmlns:a16="http://schemas.microsoft.com/office/drawing/2014/main" id="{6FB84573-B84B-4571-A6E5-91CD308E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9">
              <a:extLst>
                <a:ext uri="{FF2B5EF4-FFF2-40B4-BE49-F238E27FC236}">
                  <a16:creationId xmlns:a16="http://schemas.microsoft.com/office/drawing/2014/main" id="{7EE5EE00-E139-4AB9-ACFC-5E39CFA95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40">
              <a:extLst>
                <a:ext uri="{FF2B5EF4-FFF2-40B4-BE49-F238E27FC236}">
                  <a16:creationId xmlns:a16="http://schemas.microsoft.com/office/drawing/2014/main" id="{5A38A6AA-6753-4EFE-94BB-96DF73975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41">
              <a:extLst>
                <a:ext uri="{FF2B5EF4-FFF2-40B4-BE49-F238E27FC236}">
                  <a16:creationId xmlns:a16="http://schemas.microsoft.com/office/drawing/2014/main" id="{506AB599-570B-4547-97F4-F2C672301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42">
              <a:extLst>
                <a:ext uri="{FF2B5EF4-FFF2-40B4-BE49-F238E27FC236}">
                  <a16:creationId xmlns:a16="http://schemas.microsoft.com/office/drawing/2014/main" id="{9AFDEA1E-DBAB-4507-8D36-786F19A85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3">
              <a:extLst>
                <a:ext uri="{FF2B5EF4-FFF2-40B4-BE49-F238E27FC236}">
                  <a16:creationId xmlns:a16="http://schemas.microsoft.com/office/drawing/2014/main" id="{C824D6F7-0BDF-4C8C-869D-BDDEB0764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4">
              <a:extLst>
                <a:ext uri="{FF2B5EF4-FFF2-40B4-BE49-F238E27FC236}">
                  <a16:creationId xmlns:a16="http://schemas.microsoft.com/office/drawing/2014/main" id="{6953C491-AE0F-4D2B-9474-18D5E8B5D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Rectangle 45">
              <a:extLst>
                <a:ext uri="{FF2B5EF4-FFF2-40B4-BE49-F238E27FC236}">
                  <a16:creationId xmlns:a16="http://schemas.microsoft.com/office/drawing/2014/main" id="{5B956350-9BDD-4090-B2B6-12C13D1CE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6">
              <a:extLst>
                <a:ext uri="{FF2B5EF4-FFF2-40B4-BE49-F238E27FC236}">
                  <a16:creationId xmlns:a16="http://schemas.microsoft.com/office/drawing/2014/main" id="{ECE31E80-E354-44C3-81E0-4E3E41DDF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7">
              <a:extLst>
                <a:ext uri="{FF2B5EF4-FFF2-40B4-BE49-F238E27FC236}">
                  <a16:creationId xmlns:a16="http://schemas.microsoft.com/office/drawing/2014/main" id="{9DFA35DB-5360-405A-A7EB-064E51FBC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48">
              <a:extLst>
                <a:ext uri="{FF2B5EF4-FFF2-40B4-BE49-F238E27FC236}">
                  <a16:creationId xmlns:a16="http://schemas.microsoft.com/office/drawing/2014/main" id="{2DA499BD-4313-4AD1-BE87-4BEF50FE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9">
              <a:extLst>
                <a:ext uri="{FF2B5EF4-FFF2-40B4-BE49-F238E27FC236}">
                  <a16:creationId xmlns:a16="http://schemas.microsoft.com/office/drawing/2014/main" id="{680E4C6D-12D1-417A-A709-EC416D98F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50">
              <a:extLst>
                <a:ext uri="{FF2B5EF4-FFF2-40B4-BE49-F238E27FC236}">
                  <a16:creationId xmlns:a16="http://schemas.microsoft.com/office/drawing/2014/main" id="{C93537B4-09B6-4CC6-92DE-3D3BDAC7A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51">
              <a:extLst>
                <a:ext uri="{FF2B5EF4-FFF2-40B4-BE49-F238E27FC236}">
                  <a16:creationId xmlns:a16="http://schemas.microsoft.com/office/drawing/2014/main" id="{5D100FC5-9EA8-4DA7-AFA4-BC60831FD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52">
              <a:extLst>
                <a:ext uri="{FF2B5EF4-FFF2-40B4-BE49-F238E27FC236}">
                  <a16:creationId xmlns:a16="http://schemas.microsoft.com/office/drawing/2014/main" id="{3F10D757-6A3B-4314-9755-419B3738E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3">
              <a:extLst>
                <a:ext uri="{FF2B5EF4-FFF2-40B4-BE49-F238E27FC236}">
                  <a16:creationId xmlns:a16="http://schemas.microsoft.com/office/drawing/2014/main" id="{28A4D881-D08B-4AAF-866D-7C3160112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4">
              <a:extLst>
                <a:ext uri="{FF2B5EF4-FFF2-40B4-BE49-F238E27FC236}">
                  <a16:creationId xmlns:a16="http://schemas.microsoft.com/office/drawing/2014/main" id="{A666F3F8-571E-483F-9B9F-31EDB91A9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5">
              <a:extLst>
                <a:ext uri="{FF2B5EF4-FFF2-40B4-BE49-F238E27FC236}">
                  <a16:creationId xmlns:a16="http://schemas.microsoft.com/office/drawing/2014/main" id="{18305C0F-0A00-450D-92A1-313C72439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6">
              <a:extLst>
                <a:ext uri="{FF2B5EF4-FFF2-40B4-BE49-F238E27FC236}">
                  <a16:creationId xmlns:a16="http://schemas.microsoft.com/office/drawing/2014/main" id="{9A5635D8-CCB7-4D16-BB87-B1BC1AC97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7">
              <a:extLst>
                <a:ext uri="{FF2B5EF4-FFF2-40B4-BE49-F238E27FC236}">
                  <a16:creationId xmlns:a16="http://schemas.microsoft.com/office/drawing/2014/main" id="{7C10A784-B5EE-4486-96E7-3CC72B93A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AE5FA7CA-916C-4A34-A727-E0289D891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3" name="Picture 2">
            <a:extLst>
              <a:ext uri="{FF2B5EF4-FFF2-40B4-BE49-F238E27FC236}">
                <a16:creationId xmlns:a16="http://schemas.microsoft.com/office/drawing/2014/main" id="{51039561-92F9-40EE-900B-6AA0F580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9525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p14="http://schemas.microsoft.com/office/powerpoint/2010/main" xmlns:a16="http://schemas.microsoft.com/office/drawing/2014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6B0140-D092-41B8-BEC4-FE129896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3" y="1122363"/>
            <a:ext cx="4527929" cy="4287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600"/>
              <a:t>Challenges  limitation</a:t>
            </a:r>
            <a:br>
              <a:rPr lang="en-US" sz="5600"/>
            </a:br>
            <a:r>
              <a:rPr lang="en-US" sz="5600"/>
              <a:t>future work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902DA06-324A-48CE-8C20-94535480A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133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60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0140-D092-41B8-BEC4-FE129896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&amp; limitation 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193C6-D600-4B17-9BF5-CA6CD2352A98}"/>
              </a:ext>
            </a:extLst>
          </p:cNvPr>
          <p:cNvSpPr txBox="1"/>
          <p:nvPr/>
        </p:nvSpPr>
        <p:spPr>
          <a:xfrm>
            <a:off x="1179443" y="2080591"/>
            <a:ext cx="9978887" cy="31085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/>
              <a:t>1. Due to the limits of our Raspberry pi's buffer size, our speed of transmitting picture is low (15s)</a:t>
            </a:r>
          </a:p>
          <a:p>
            <a:endParaRPr lang="en-US" sz="2800"/>
          </a:p>
          <a:p>
            <a:r>
              <a:rPr lang="en-US" sz="2800"/>
              <a:t>2. Range of receiving the picture is a bit small as it relies on Bluetooth network.</a:t>
            </a:r>
          </a:p>
          <a:p>
            <a:endParaRPr lang="en-US" sz="2800"/>
          </a:p>
          <a:p>
            <a:r>
              <a:rPr lang="en-US" sz="2800"/>
              <a:t>3. The system lacks data collation ability.</a:t>
            </a:r>
          </a:p>
        </p:txBody>
      </p:sp>
    </p:spTree>
    <p:extLst>
      <p:ext uri="{BB962C8B-B14F-4D97-AF65-F5344CB8AC3E}">
        <p14:creationId xmlns:p14="http://schemas.microsoft.com/office/powerpoint/2010/main" val="2196097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3C320-7DB5-43C3-BDE2-1988DD77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/>
              </a:rPr>
              <a:t>Future works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121317-4CAA-42B0-8D82-447692A5B10C}"/>
              </a:ext>
            </a:extLst>
          </p:cNvPr>
          <p:cNvSpPr txBox="1"/>
          <p:nvPr/>
        </p:nvSpPr>
        <p:spPr>
          <a:xfrm>
            <a:off x="1060077" y="1911724"/>
            <a:ext cx="9937375" cy="3728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</a:pPr>
            <a:r>
              <a:rPr lang="en-US" altLang="zh-CN" sz="2400">
                <a:ea typeface="+mn-lt"/>
                <a:cs typeface="+mn-lt"/>
              </a:rPr>
              <a:t>1. </a:t>
            </a:r>
            <a:r>
              <a:rPr lang="en-US" altLang="zh-CN" sz="2800">
                <a:ea typeface="+mn-lt"/>
                <a:cs typeface="+mn-lt"/>
              </a:rPr>
              <a:t>The framework of the monitor has already been built, with different sensors, we can set the monitor into different areas to achieve different.</a:t>
            </a:r>
            <a:endParaRPr lang="zh-CN" sz="2800">
              <a:ea typeface="+mn-lt"/>
              <a:cs typeface="+mn-lt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</a:pPr>
            <a:r>
              <a:rPr lang="en-US" altLang="zh-CN" sz="2800">
                <a:ea typeface="+mn-lt"/>
                <a:cs typeface="+mn-lt"/>
              </a:rPr>
              <a:t>2. To provide faster transmitting speed, we can use </a:t>
            </a:r>
            <a:r>
              <a:rPr lang="en-US" altLang="zh-CN" sz="2800" err="1">
                <a:ea typeface="+mn-lt"/>
                <a:cs typeface="+mn-lt"/>
              </a:rPr>
              <a:t>wifi</a:t>
            </a:r>
            <a:r>
              <a:rPr lang="en-US" altLang="zh-CN" sz="2800">
                <a:ea typeface="+mn-lt"/>
                <a:cs typeface="+mn-lt"/>
              </a:rPr>
              <a:t> network in future.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</a:pPr>
            <a:r>
              <a:rPr lang="en-US" altLang="zh-CN" sz="2800">
                <a:ea typeface="+mn-lt"/>
                <a:cs typeface="+mn-lt"/>
              </a:rPr>
              <a:t>3. App refinement and Upgrade for Pi</a:t>
            </a:r>
          </a:p>
          <a:p>
            <a:pPr algn="l"/>
            <a:endParaRPr lang="zh-CN" altLang="en-US"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319354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icture 2">
            <a:extLst>
              <a:ext uri="{FF2B5EF4-FFF2-40B4-BE49-F238E27FC236}">
                <a16:creationId xmlns:a16="http://schemas.microsoft.com/office/drawing/2014/main" id="{174E31E4-530B-4247-962C-F46F5F66D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1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a16="http://schemas.microsoft.com/office/drawing/2014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6FA2727-C33B-44D1-885B-76DC0424E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053888" cy="6858001"/>
            <a:chOff x="-14288" y="0"/>
            <a:chExt cx="12053888" cy="6858001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4A64FD4C-29BA-46E7-AE31-AB38BB69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8" name="Rectangle 5">
                <a:extLst>
                  <a:ext uri="{FF2B5EF4-FFF2-40B4-BE49-F238E27FC236}">
                    <a16:creationId xmlns:a16="http://schemas.microsoft.com/office/drawing/2014/main" id="{A28E5FB6-5905-4F5D-A6CE-E6222C405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Freeform 6">
                <a:extLst>
                  <a:ext uri="{FF2B5EF4-FFF2-40B4-BE49-F238E27FC236}">
                    <a16:creationId xmlns:a16="http://schemas.microsoft.com/office/drawing/2014/main" id="{F838FE17-378C-4BCE-80C0-FDD1CB074E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7">
                <a:extLst>
                  <a:ext uri="{FF2B5EF4-FFF2-40B4-BE49-F238E27FC236}">
                    <a16:creationId xmlns:a16="http://schemas.microsoft.com/office/drawing/2014/main" id="{12A1474E-6A37-4F4D-A638-DD0EC0A5B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8">
                <a:extLst>
                  <a:ext uri="{FF2B5EF4-FFF2-40B4-BE49-F238E27FC236}">
                    <a16:creationId xmlns:a16="http://schemas.microsoft.com/office/drawing/2014/main" id="{49EA8CC2-4D0F-4C86-9CA9-FC3792FED1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9">
                <a:extLst>
                  <a:ext uri="{FF2B5EF4-FFF2-40B4-BE49-F238E27FC236}">
                    <a16:creationId xmlns:a16="http://schemas.microsoft.com/office/drawing/2014/main" id="{69548BD5-92E6-42BD-9719-16AA005C5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0">
                <a:extLst>
                  <a:ext uri="{FF2B5EF4-FFF2-40B4-BE49-F238E27FC236}">
                    <a16:creationId xmlns:a16="http://schemas.microsoft.com/office/drawing/2014/main" id="{93005965-F240-4349-A563-515973BF01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11">
                <a:extLst>
                  <a:ext uri="{FF2B5EF4-FFF2-40B4-BE49-F238E27FC236}">
                    <a16:creationId xmlns:a16="http://schemas.microsoft.com/office/drawing/2014/main" id="{277A546F-05BB-4274-A6A6-9DACC27AB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Freeform 12">
                <a:extLst>
                  <a:ext uri="{FF2B5EF4-FFF2-40B4-BE49-F238E27FC236}">
                    <a16:creationId xmlns:a16="http://schemas.microsoft.com/office/drawing/2014/main" id="{7BE7FF91-E18E-41AA-A952-07CB0C02C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 13">
                <a:extLst>
                  <a:ext uri="{FF2B5EF4-FFF2-40B4-BE49-F238E27FC236}">
                    <a16:creationId xmlns:a16="http://schemas.microsoft.com/office/drawing/2014/main" id="{3F6A31AA-E4FB-4DD0-9AB1-BDD994CFA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4">
                <a:extLst>
                  <a:ext uri="{FF2B5EF4-FFF2-40B4-BE49-F238E27FC236}">
                    <a16:creationId xmlns:a16="http://schemas.microsoft.com/office/drawing/2014/main" id="{F99B8398-08D8-4C1E-8D7F-BAFB4D3937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5">
                <a:extLst>
                  <a:ext uri="{FF2B5EF4-FFF2-40B4-BE49-F238E27FC236}">
                    <a16:creationId xmlns:a16="http://schemas.microsoft.com/office/drawing/2014/main" id="{CD3984BB-CCC2-49D9-A80B-9507BE5A91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Line 16">
                <a:extLst>
                  <a:ext uri="{FF2B5EF4-FFF2-40B4-BE49-F238E27FC236}">
                    <a16:creationId xmlns:a16="http://schemas.microsoft.com/office/drawing/2014/main" id="{78FF7C07-82F5-4A64-9D71-29CBE1B79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Freeform 17">
                <a:extLst>
                  <a:ext uri="{FF2B5EF4-FFF2-40B4-BE49-F238E27FC236}">
                    <a16:creationId xmlns:a16="http://schemas.microsoft.com/office/drawing/2014/main" id="{7F1773CA-6AE7-4723-B072-CEC5F3829B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 18">
                <a:extLst>
                  <a:ext uri="{FF2B5EF4-FFF2-40B4-BE49-F238E27FC236}">
                    <a16:creationId xmlns:a16="http://schemas.microsoft.com/office/drawing/2014/main" id="{D5EC23E0-B877-4A62-B084-5407401FB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 19">
                <a:extLst>
                  <a:ext uri="{FF2B5EF4-FFF2-40B4-BE49-F238E27FC236}">
                    <a16:creationId xmlns:a16="http://schemas.microsoft.com/office/drawing/2014/main" id="{633C4B0E-E7C6-4A1A-9D3A-80C8E3C59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20">
                <a:extLst>
                  <a:ext uri="{FF2B5EF4-FFF2-40B4-BE49-F238E27FC236}">
                    <a16:creationId xmlns:a16="http://schemas.microsoft.com/office/drawing/2014/main" id="{AB21372F-73AC-4C69-81F0-0D44D36F6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Rectangle 21">
                <a:extLst>
                  <a:ext uri="{FF2B5EF4-FFF2-40B4-BE49-F238E27FC236}">
                    <a16:creationId xmlns:a16="http://schemas.microsoft.com/office/drawing/2014/main" id="{B5619D97-D7A8-4DFF-8AB1-F4B393C1B4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22">
                <a:extLst>
                  <a:ext uri="{FF2B5EF4-FFF2-40B4-BE49-F238E27FC236}">
                    <a16:creationId xmlns:a16="http://schemas.microsoft.com/office/drawing/2014/main" id="{55E03CED-9618-41BB-898B-2FECEFD7B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23">
                <a:extLst>
                  <a:ext uri="{FF2B5EF4-FFF2-40B4-BE49-F238E27FC236}">
                    <a16:creationId xmlns:a16="http://schemas.microsoft.com/office/drawing/2014/main" id="{78F0A5C5-589E-4053-A41A-FA77210C3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24">
                <a:extLst>
                  <a:ext uri="{FF2B5EF4-FFF2-40B4-BE49-F238E27FC236}">
                    <a16:creationId xmlns:a16="http://schemas.microsoft.com/office/drawing/2014/main" id="{AC2718F8-15C5-4DAB-B194-AAEE8A205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25">
                <a:extLst>
                  <a:ext uri="{FF2B5EF4-FFF2-40B4-BE49-F238E27FC236}">
                    <a16:creationId xmlns:a16="http://schemas.microsoft.com/office/drawing/2014/main" id="{23C6608B-EA21-4579-B33F-55E52AC287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26">
                <a:extLst>
                  <a:ext uri="{FF2B5EF4-FFF2-40B4-BE49-F238E27FC236}">
                    <a16:creationId xmlns:a16="http://schemas.microsoft.com/office/drawing/2014/main" id="{4A2FEFA2-D838-4CE1-90BA-B6C2EEB5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27">
                <a:extLst>
                  <a:ext uri="{FF2B5EF4-FFF2-40B4-BE49-F238E27FC236}">
                    <a16:creationId xmlns:a16="http://schemas.microsoft.com/office/drawing/2014/main" id="{1A39CA24-DF18-4FCC-8265-36FC72ED5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28">
                <a:extLst>
                  <a:ext uri="{FF2B5EF4-FFF2-40B4-BE49-F238E27FC236}">
                    <a16:creationId xmlns:a16="http://schemas.microsoft.com/office/drawing/2014/main" id="{50A32DBD-9B22-49C3-A628-A98533FBF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29">
                <a:extLst>
                  <a:ext uri="{FF2B5EF4-FFF2-40B4-BE49-F238E27FC236}">
                    <a16:creationId xmlns:a16="http://schemas.microsoft.com/office/drawing/2014/main" id="{A3C0B30D-BB1A-4B3D-A162-3EBE6267F2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30">
                <a:extLst>
                  <a:ext uri="{FF2B5EF4-FFF2-40B4-BE49-F238E27FC236}">
                    <a16:creationId xmlns:a16="http://schemas.microsoft.com/office/drawing/2014/main" id="{092B125A-1548-445E-8689-07BEEC8155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31">
                <a:extLst>
                  <a:ext uri="{FF2B5EF4-FFF2-40B4-BE49-F238E27FC236}">
                    <a16:creationId xmlns:a16="http://schemas.microsoft.com/office/drawing/2014/main" id="{D6A7D7B9-9A7E-4FD2-A1B4-1C5CFAE54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DB1B0C3F-D935-4306-B5B1-6AA635881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8" name="Freeform 32">
                <a:extLst>
                  <a:ext uri="{FF2B5EF4-FFF2-40B4-BE49-F238E27FC236}">
                    <a16:creationId xmlns:a16="http://schemas.microsoft.com/office/drawing/2014/main" id="{75BC67F5-D485-467A-BCCB-D062EB6DD0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33">
                <a:extLst>
                  <a:ext uri="{FF2B5EF4-FFF2-40B4-BE49-F238E27FC236}">
                    <a16:creationId xmlns:a16="http://schemas.microsoft.com/office/drawing/2014/main" id="{7FB0B620-AB12-4F0B-AD1C-A47A5FBC63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34">
                <a:extLst>
                  <a:ext uri="{FF2B5EF4-FFF2-40B4-BE49-F238E27FC236}">
                    <a16:creationId xmlns:a16="http://schemas.microsoft.com/office/drawing/2014/main" id="{6AEFA891-E591-4F7F-9DBA-FC78E9B8F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35">
                <a:extLst>
                  <a:ext uri="{FF2B5EF4-FFF2-40B4-BE49-F238E27FC236}">
                    <a16:creationId xmlns:a16="http://schemas.microsoft.com/office/drawing/2014/main" id="{78921FFF-4B57-4E33-BE94-5A8BFC95E0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Freeform 36">
                <a:extLst>
                  <a:ext uri="{FF2B5EF4-FFF2-40B4-BE49-F238E27FC236}">
                    <a16:creationId xmlns:a16="http://schemas.microsoft.com/office/drawing/2014/main" id="{0C4A1658-5AAE-4925-B106-BC0A17862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Freeform 37">
                <a:extLst>
                  <a:ext uri="{FF2B5EF4-FFF2-40B4-BE49-F238E27FC236}">
                    <a16:creationId xmlns:a16="http://schemas.microsoft.com/office/drawing/2014/main" id="{DE6DF3EB-099A-427A-A999-3BAF3BCA9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38">
                <a:extLst>
                  <a:ext uri="{FF2B5EF4-FFF2-40B4-BE49-F238E27FC236}">
                    <a16:creationId xmlns:a16="http://schemas.microsoft.com/office/drawing/2014/main" id="{CC595EFE-4690-4B81-83B1-F863B951B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39">
                <a:extLst>
                  <a:ext uri="{FF2B5EF4-FFF2-40B4-BE49-F238E27FC236}">
                    <a16:creationId xmlns:a16="http://schemas.microsoft.com/office/drawing/2014/main" id="{400FAC39-AEAC-4B54-9694-29D537C203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40">
                <a:extLst>
                  <a:ext uri="{FF2B5EF4-FFF2-40B4-BE49-F238E27FC236}">
                    <a16:creationId xmlns:a16="http://schemas.microsoft.com/office/drawing/2014/main" id="{C61298B0-056E-4D83-B168-1C054A17A0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Rectangle 41">
                <a:extLst>
                  <a:ext uri="{FF2B5EF4-FFF2-40B4-BE49-F238E27FC236}">
                    <a16:creationId xmlns:a16="http://schemas.microsoft.com/office/drawing/2014/main" id="{9F9E69A2-F9B0-40C2-BDC8-143835426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xmlns:a16="http://schemas.microsoft.com/office/drawing/2014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96" name="Rectangle 195">
            <a:extLst>
              <a:ext uri="{FF2B5EF4-FFF2-40B4-BE49-F238E27FC236}">
                <a16:creationId xmlns:a16="http://schemas.microsoft.com/office/drawing/2014/main" id="{E79AA19A-D2E5-47F2-AF0A-1AF60D42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8" name="Picture 2">
            <a:extLst>
              <a:ext uri="{FF2B5EF4-FFF2-40B4-BE49-F238E27FC236}">
                <a16:creationId xmlns:a16="http://schemas.microsoft.com/office/drawing/2014/main" id="{91A1E618-D29E-4367-8C34-500E34D05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dgm="http://schemas.openxmlformats.org/drawingml/2006/diagram" xmlns:p14="http://schemas.microsoft.com/office/powerpoint/2010/main" xmlns:a16="http://schemas.microsoft.com/office/drawing/2014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0" name="Group 199">
            <a:extLst>
              <a:ext uri="{FF2B5EF4-FFF2-40B4-BE49-F238E27FC236}">
                <a16:creationId xmlns:a16="http://schemas.microsoft.com/office/drawing/2014/main" id="{81F2BFD0-D896-4BA3-BA8F-0C866BD02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01" name="Rectangle 5">
              <a:extLst>
                <a:ext uri="{FF2B5EF4-FFF2-40B4-BE49-F238E27FC236}">
                  <a16:creationId xmlns:a16="http://schemas.microsoft.com/office/drawing/2014/main" id="{E768552D-D282-4F68-A829-290A4E831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 6">
              <a:extLst>
                <a:ext uri="{FF2B5EF4-FFF2-40B4-BE49-F238E27FC236}">
                  <a16:creationId xmlns:a16="http://schemas.microsoft.com/office/drawing/2014/main" id="{B24AFF31-9CD5-4E66-92F8-23BBAA24F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Freeform 7">
              <a:extLst>
                <a:ext uri="{FF2B5EF4-FFF2-40B4-BE49-F238E27FC236}">
                  <a16:creationId xmlns:a16="http://schemas.microsoft.com/office/drawing/2014/main" id="{2267C9D4-1770-45DD-AAFC-481CD7F9A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Freeform 8">
              <a:extLst>
                <a:ext uri="{FF2B5EF4-FFF2-40B4-BE49-F238E27FC236}">
                  <a16:creationId xmlns:a16="http://schemas.microsoft.com/office/drawing/2014/main" id="{10DD6E0B-EC58-4D78-8125-AD2172CD2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Freeform 9">
              <a:extLst>
                <a:ext uri="{FF2B5EF4-FFF2-40B4-BE49-F238E27FC236}">
                  <a16:creationId xmlns:a16="http://schemas.microsoft.com/office/drawing/2014/main" id="{23D6129D-742B-422D-A589-6692C1671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Freeform 10">
              <a:extLst>
                <a:ext uri="{FF2B5EF4-FFF2-40B4-BE49-F238E27FC236}">
                  <a16:creationId xmlns:a16="http://schemas.microsoft.com/office/drawing/2014/main" id="{9EA94B27-F456-4ED8-8882-77632BDA0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Freeform 11">
              <a:extLst>
                <a:ext uri="{FF2B5EF4-FFF2-40B4-BE49-F238E27FC236}">
                  <a16:creationId xmlns:a16="http://schemas.microsoft.com/office/drawing/2014/main" id="{5B7F96AD-560C-44A0-A513-B06758743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Freeform 12">
              <a:extLst>
                <a:ext uri="{FF2B5EF4-FFF2-40B4-BE49-F238E27FC236}">
                  <a16:creationId xmlns:a16="http://schemas.microsoft.com/office/drawing/2014/main" id="{86701218-3235-4E29-9935-1315B5CCA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Freeform 13">
              <a:extLst>
                <a:ext uri="{FF2B5EF4-FFF2-40B4-BE49-F238E27FC236}">
                  <a16:creationId xmlns:a16="http://schemas.microsoft.com/office/drawing/2014/main" id="{046B7BE0-D335-42EA-9893-4FA7654F1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 14">
              <a:extLst>
                <a:ext uri="{FF2B5EF4-FFF2-40B4-BE49-F238E27FC236}">
                  <a16:creationId xmlns:a16="http://schemas.microsoft.com/office/drawing/2014/main" id="{1CE912BA-808B-403C-B26F-8083A682E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Freeform 15">
              <a:extLst>
                <a:ext uri="{FF2B5EF4-FFF2-40B4-BE49-F238E27FC236}">
                  <a16:creationId xmlns:a16="http://schemas.microsoft.com/office/drawing/2014/main" id="{D974F65A-298C-4395-B461-99B9B49A0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Line 16">
              <a:extLst>
                <a:ext uri="{FF2B5EF4-FFF2-40B4-BE49-F238E27FC236}">
                  <a16:creationId xmlns:a16="http://schemas.microsoft.com/office/drawing/2014/main" id="{700B2930-989F-49DC-B909-8150145AD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Freeform 17">
              <a:extLst>
                <a:ext uri="{FF2B5EF4-FFF2-40B4-BE49-F238E27FC236}">
                  <a16:creationId xmlns:a16="http://schemas.microsoft.com/office/drawing/2014/main" id="{795CB5A4-5145-4F55-95D0-6FB820C84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Freeform 18">
              <a:extLst>
                <a:ext uri="{FF2B5EF4-FFF2-40B4-BE49-F238E27FC236}">
                  <a16:creationId xmlns:a16="http://schemas.microsoft.com/office/drawing/2014/main" id="{54BB8F48-D800-442A-A603-979FE924B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Freeform 19">
              <a:extLst>
                <a:ext uri="{FF2B5EF4-FFF2-40B4-BE49-F238E27FC236}">
                  <a16:creationId xmlns:a16="http://schemas.microsoft.com/office/drawing/2014/main" id="{6E863078-201C-4DC0-8D49-077300CE5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Freeform 20">
              <a:extLst>
                <a:ext uri="{FF2B5EF4-FFF2-40B4-BE49-F238E27FC236}">
                  <a16:creationId xmlns:a16="http://schemas.microsoft.com/office/drawing/2014/main" id="{6A07EBB6-75B0-4867-9AAF-7A645F414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Rectangle 21">
              <a:extLst>
                <a:ext uri="{FF2B5EF4-FFF2-40B4-BE49-F238E27FC236}">
                  <a16:creationId xmlns:a16="http://schemas.microsoft.com/office/drawing/2014/main" id="{FA40A456-C685-468E-802E-FC9DF586A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Freeform 22">
              <a:extLst>
                <a:ext uri="{FF2B5EF4-FFF2-40B4-BE49-F238E27FC236}">
                  <a16:creationId xmlns:a16="http://schemas.microsoft.com/office/drawing/2014/main" id="{F101202F-1B2A-414C-83B7-9327E599C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Freeform 23">
              <a:extLst>
                <a:ext uri="{FF2B5EF4-FFF2-40B4-BE49-F238E27FC236}">
                  <a16:creationId xmlns:a16="http://schemas.microsoft.com/office/drawing/2014/main" id="{4CC9B21F-B169-47E9-9B97-3BB645B29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eform 24">
              <a:extLst>
                <a:ext uri="{FF2B5EF4-FFF2-40B4-BE49-F238E27FC236}">
                  <a16:creationId xmlns:a16="http://schemas.microsoft.com/office/drawing/2014/main" id="{BC5FF733-2B71-4734-AD6A-5B35D99A3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eform 25">
              <a:extLst>
                <a:ext uri="{FF2B5EF4-FFF2-40B4-BE49-F238E27FC236}">
                  <a16:creationId xmlns:a16="http://schemas.microsoft.com/office/drawing/2014/main" id="{0BCEB342-9AFC-4DCB-B92F-E08DC9594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26">
              <a:extLst>
                <a:ext uri="{FF2B5EF4-FFF2-40B4-BE49-F238E27FC236}">
                  <a16:creationId xmlns:a16="http://schemas.microsoft.com/office/drawing/2014/main" id="{3B9B4933-5C48-49CF-9C6A-A29413150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eform 27">
              <a:extLst>
                <a:ext uri="{FF2B5EF4-FFF2-40B4-BE49-F238E27FC236}">
                  <a16:creationId xmlns:a16="http://schemas.microsoft.com/office/drawing/2014/main" id="{404FC76C-600A-482C-8386-F77ACBCCA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Freeform 28">
              <a:extLst>
                <a:ext uri="{FF2B5EF4-FFF2-40B4-BE49-F238E27FC236}">
                  <a16:creationId xmlns:a16="http://schemas.microsoft.com/office/drawing/2014/main" id="{E8C5D50B-A590-4AAE-A748-113B62DAD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eform 29">
              <a:extLst>
                <a:ext uri="{FF2B5EF4-FFF2-40B4-BE49-F238E27FC236}">
                  <a16:creationId xmlns:a16="http://schemas.microsoft.com/office/drawing/2014/main" id="{6C045F21-7031-4278-BFEE-A9E856ADA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eform 30">
              <a:extLst>
                <a:ext uri="{FF2B5EF4-FFF2-40B4-BE49-F238E27FC236}">
                  <a16:creationId xmlns:a16="http://schemas.microsoft.com/office/drawing/2014/main" id="{20EE11A6-3412-4362-8A81-592A15F2A1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Freeform 31">
              <a:extLst>
                <a:ext uri="{FF2B5EF4-FFF2-40B4-BE49-F238E27FC236}">
                  <a16:creationId xmlns:a16="http://schemas.microsoft.com/office/drawing/2014/main" id="{A376EBB9-93F5-4B6F-95B3-C36B6C851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ECA474-6488-43B1-9247-7A2DCBB4C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254035"/>
            <a:ext cx="2926190" cy="40022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>
                <a:solidFill>
                  <a:srgbClr val="FFFFFF"/>
                </a:solidFill>
              </a:rPr>
              <a:t>Team member contribution </a:t>
            </a:r>
          </a:p>
        </p:txBody>
      </p:sp>
      <p:sp useBgFill="1">
        <p:nvSpPr>
          <p:cNvPr id="229" name="Round Diagonal Corner Rectangle 6">
            <a:extLst>
              <a:ext uri="{FF2B5EF4-FFF2-40B4-BE49-F238E27FC236}">
                <a16:creationId xmlns:a16="http://schemas.microsoft.com/office/drawing/2014/main" id="{092ADBCF-B973-4C52-B740-4963E95B3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3FDD94EF-2C73-4E4C-8332-A75D8AC6B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232" name="Freeform 32">
              <a:extLst>
                <a:ext uri="{FF2B5EF4-FFF2-40B4-BE49-F238E27FC236}">
                  <a16:creationId xmlns:a16="http://schemas.microsoft.com/office/drawing/2014/main" id="{16EF4FCE-B4BF-485E-B545-95827107A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Freeform 33">
              <a:extLst>
                <a:ext uri="{FF2B5EF4-FFF2-40B4-BE49-F238E27FC236}">
                  <a16:creationId xmlns:a16="http://schemas.microsoft.com/office/drawing/2014/main" id="{C2DD2F29-32E6-486A-A295-CB29680AD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Freeform 34">
              <a:extLst>
                <a:ext uri="{FF2B5EF4-FFF2-40B4-BE49-F238E27FC236}">
                  <a16:creationId xmlns:a16="http://schemas.microsoft.com/office/drawing/2014/main" id="{B1A76276-E7B7-4550-9AFF-0A2E9EAEA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Freeform 35">
              <a:extLst>
                <a:ext uri="{FF2B5EF4-FFF2-40B4-BE49-F238E27FC236}">
                  <a16:creationId xmlns:a16="http://schemas.microsoft.com/office/drawing/2014/main" id="{EAFC4E0E-3390-457C-BCC9-A2479C10F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Freeform 36">
              <a:extLst>
                <a:ext uri="{FF2B5EF4-FFF2-40B4-BE49-F238E27FC236}">
                  <a16:creationId xmlns:a16="http://schemas.microsoft.com/office/drawing/2014/main" id="{D0E59BF7-C450-4448-B71A-80ECD878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Freeform 37">
              <a:extLst>
                <a:ext uri="{FF2B5EF4-FFF2-40B4-BE49-F238E27FC236}">
                  <a16:creationId xmlns:a16="http://schemas.microsoft.com/office/drawing/2014/main" id="{BAB182A0-0A27-42D3-A9D0-56E8B7F4A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Freeform 38">
              <a:extLst>
                <a:ext uri="{FF2B5EF4-FFF2-40B4-BE49-F238E27FC236}">
                  <a16:creationId xmlns:a16="http://schemas.microsoft.com/office/drawing/2014/main" id="{4C9A08D9-525C-448E-A071-78226848F4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Freeform 39">
              <a:extLst>
                <a:ext uri="{FF2B5EF4-FFF2-40B4-BE49-F238E27FC236}">
                  <a16:creationId xmlns:a16="http://schemas.microsoft.com/office/drawing/2014/main" id="{E7818D96-423C-499F-A080-00EF0B9D4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Freeform 40">
              <a:extLst>
                <a:ext uri="{FF2B5EF4-FFF2-40B4-BE49-F238E27FC236}">
                  <a16:creationId xmlns:a16="http://schemas.microsoft.com/office/drawing/2014/main" id="{059B8971-2367-46BA-8FCC-D001A6C36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Rectangle 41">
              <a:extLst>
                <a:ext uri="{FF2B5EF4-FFF2-40B4-BE49-F238E27FC236}">
                  <a16:creationId xmlns:a16="http://schemas.microsoft.com/office/drawing/2014/main" id="{E4DF0A08-11EF-495A-980F-2ED66FBB8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dgm="http://schemas.openxmlformats.org/drawingml/2006/diagram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D63EDEF6-A5B1-465F-9B56-E74EF1445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8463207"/>
              </p:ext>
            </p:extLst>
          </p:nvPr>
        </p:nvGraphicFramePr>
        <p:xfrm>
          <a:off x="4423954" y="1239658"/>
          <a:ext cx="6281920" cy="4016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5005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26</TotalTime>
  <Words>530</Words>
  <Application>Microsoft Office PowerPoint</Application>
  <PresentationFormat>Widescreen</PresentationFormat>
  <Paragraphs>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宋体</vt:lpstr>
      <vt:lpstr>Arial</vt:lpstr>
      <vt:lpstr>Calibri</vt:lpstr>
      <vt:lpstr>TW Cen MT</vt:lpstr>
      <vt:lpstr>TW Cen MT</vt:lpstr>
      <vt:lpstr>Circuit</vt:lpstr>
      <vt:lpstr>Temperature and humidity monitor</vt:lpstr>
      <vt:lpstr>Team members （ContACT INFO HIDEN FOR PRIVACY)</vt:lpstr>
      <vt:lpstr>guideline</vt:lpstr>
      <vt:lpstr>Objectives</vt:lpstr>
      <vt:lpstr>Approaches -- Sensors and hardware </vt:lpstr>
      <vt:lpstr>APPROACHES – TEMPERATURE AND HUMIDITY SENSOR </vt:lpstr>
      <vt:lpstr>Approaches – bluetooth control and transmittion </vt:lpstr>
      <vt:lpstr>PowerPoint Presentation</vt:lpstr>
      <vt:lpstr>Approaches -- the work function of pi</vt:lpstr>
      <vt:lpstr>Approaches – work function of phone</vt:lpstr>
      <vt:lpstr>  </vt:lpstr>
      <vt:lpstr>Result</vt:lpstr>
      <vt:lpstr>Challenges  limitation future work</vt:lpstr>
      <vt:lpstr>Challenges &amp; limitation  </vt:lpstr>
      <vt:lpstr>Future works</vt:lpstr>
      <vt:lpstr>Team member contribution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Temperature and humidity monitor</dc:title>
  <dc:creator>Linzhang Wu</dc:creator>
  <cp:lastModifiedBy>Linzhang Wu</cp:lastModifiedBy>
  <cp:revision>2</cp:revision>
  <dcterms:created xsi:type="dcterms:W3CDTF">2019-12-18T00:21:46Z</dcterms:created>
  <dcterms:modified xsi:type="dcterms:W3CDTF">2026-04-29T13:28:27Z</dcterms:modified>
</cp:coreProperties>
</file>